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8" r:id="rId4"/>
  </p:sldMasterIdLst>
  <p:sldIdLst>
    <p:sldId id="256" r:id="rId5"/>
    <p:sldId id="257" r:id="rId6"/>
    <p:sldId id="258" r:id="rId7"/>
    <p:sldId id="259" r:id="rId8"/>
    <p:sldId id="266" r:id="rId9"/>
    <p:sldId id="260" r:id="rId10"/>
    <p:sldId id="267" r:id="rId11"/>
    <p:sldId id="261" r:id="rId12"/>
    <p:sldId id="264" r:id="rId13"/>
    <p:sldId id="265" r:id="rId14"/>
  </p:sldIdLst>
  <p:sldSz cx="18288000" cy="10287000"/>
  <p:notesSz cx="6858000" cy="9144000"/>
  <p:embeddedFontLst>
    <p:embeddedFont>
      <p:font typeface="League Spartan" panose="020B0604020202020204" charset="0"/>
      <p:regular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03D51-88D6-0EEF-3DA1-36F119B630A8}" v="36" dt="2025-12-11T19:50:16.853"/>
    <p1510:client id="{21BE32E4-51CD-15CA-9A87-D4C25940F478}" v="814" dt="2025-12-11T20:52:00.895"/>
    <p1510:client id="{27EBC072-6B7A-2DBC-3974-B3EECA0E9E4C}" v="11" dt="2025-12-11T20:17:13.180"/>
    <p1510:client id="{356B46E6-87AC-A0FE-8AD7-E67E3A2FC4C5}" v="285" dt="2025-12-11T19:47:23.250"/>
    <p1510:client id="{4EC27104-62B9-5754-84FA-D20D95D58956}" v="1" dt="2025-12-12T03:33:49.768"/>
    <p1510:client id="{6C4983D3-46B2-CAD5-8FCB-38CA8E628976}" v="1" dt="2025-12-12T04:08:22.728"/>
    <p1510:client id="{7FDEAC3B-7423-7FB9-2B5E-E3F1C9EF7065}" v="1125" dt="2025-12-11T21:47:32.065"/>
    <p1510:client id="{94CE61D1-3130-132E-A218-DE77966585C3}" v="29" dt="2025-12-11T03:09:22.737"/>
    <p1510:client id="{C2D42135-D6E7-D3F0-EF5E-2EEF1DB95580}" v="159" dt="2025-12-11T20:58:28.602"/>
    <p1510:client id="{DDBDECCC-5914-E428-9AF1-60174B4DBD78}" v="2" dt="2025-12-11T18:47:50.988"/>
    <p1510:client id="{E6BCC813-967D-E595-3655-75079F172CB5}" v="273" dt="2025-12-12T15:12:28.987"/>
    <p1510:client id="{EE3B5042-08DC-CAAB-9507-C9DAA9E1B395}" v="589" dt="2025-12-12T02:21:39.427"/>
  </p1510:revLst>
</p1510:revInfo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C9272C-14A8-4ACA-AE06-B59AFCF50220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2E536E81-2D55-43D4-A2E3-B3D7C11D66C9}">
      <dgm:prSet phldrT="[Text]" phldr="0" custT="0"/>
      <dgm:spPr/>
      <dgm:t>
        <a:bodyPr/>
        <a:lstStyle/>
        <a:p>
          <a:r>
            <a:rPr lang="en-CA" sz="1800"/>
            <a:t>Admin</a:t>
          </a:r>
        </a:p>
      </dgm:t>
    </dgm:pt>
    <dgm:pt modelId="{B6807F01-AD2F-47F1-9762-B7E1842FD519}" type="parTrans" cxnId="{C20931FD-95DF-40EC-A39D-35E3AB5825C9}">
      <dgm:prSet/>
      <dgm:spPr/>
      <dgm:t>
        <a:bodyPr/>
        <a:lstStyle/>
        <a:p>
          <a:endParaRPr lang="en-CA"/>
        </a:p>
      </dgm:t>
    </dgm:pt>
    <dgm:pt modelId="{0DA3AADD-A1B2-4A98-93EB-5DF60D3E3965}" type="sibTrans" cxnId="{C20931FD-95DF-40EC-A39D-35E3AB5825C9}">
      <dgm:prSet/>
      <dgm:spPr/>
      <dgm:t>
        <a:bodyPr/>
        <a:lstStyle/>
        <a:p>
          <a:endParaRPr lang="en-CA"/>
        </a:p>
      </dgm:t>
    </dgm:pt>
    <dgm:pt modelId="{9E97FE2D-83E8-4F9B-8509-7E8477F1EC5D}">
      <dgm:prSet phldrT="[Text]"/>
      <dgm:spPr/>
      <dgm:t>
        <a:bodyPr/>
        <a:lstStyle/>
        <a:p>
          <a:pPr>
            <a:buNone/>
          </a:pPr>
          <a:r>
            <a:rPr lang="en-US" b="1">
              <a:effectLst/>
              <a:latin typeface="Google Sans Text"/>
            </a:rPr>
            <a:t>Access:</a:t>
          </a:r>
          <a:r>
            <a:rPr lang="en-US">
              <a:effectLst/>
              <a:latin typeface="Google Sans Text"/>
            </a:rPr>
            <a:t> </a:t>
          </a:r>
          <a:r>
            <a:rPr lang="en-US" b="1">
              <a:effectLst/>
              <a:latin typeface="Google Sans Text"/>
            </a:rPr>
            <a:t>ALL PRIVILEGES</a:t>
          </a:r>
          <a:r>
            <a:rPr lang="en-US">
              <a:effectLst/>
              <a:latin typeface="Google Sans Text"/>
            </a:rPr>
            <a:t> on </a:t>
          </a:r>
          <a:r>
            <a:rPr lang="en-US" err="1">
              <a:effectLst/>
              <a:latin typeface="Google Sans Text"/>
            </a:rPr>
            <a:t>bookstore_db</a:t>
          </a:r>
          <a:r>
            <a:rPr lang="en-US">
              <a:effectLst/>
              <a:latin typeface="Google Sans Text"/>
            </a:rPr>
            <a:t>.*. </a:t>
          </a:r>
          <a:r>
            <a:rPr lang="en-US" b="1">
              <a:effectLst/>
              <a:latin typeface="Google Sans Text"/>
            </a:rPr>
            <a:t>Purpose:</a:t>
          </a:r>
          <a:r>
            <a:rPr lang="en-US">
              <a:effectLst/>
              <a:latin typeface="Google Sans Text"/>
            </a:rPr>
            <a:t> System maintenance, data backup, and user management.</a:t>
          </a:r>
          <a:endParaRPr lang="en-CA"/>
        </a:p>
      </dgm:t>
    </dgm:pt>
    <dgm:pt modelId="{C6D1548E-A81C-4C83-B6C5-9A7678E20999}" type="parTrans" cxnId="{B08C18EA-96CE-4E14-A917-3C5381EF47BE}">
      <dgm:prSet/>
      <dgm:spPr/>
      <dgm:t>
        <a:bodyPr/>
        <a:lstStyle/>
        <a:p>
          <a:endParaRPr lang="en-CA"/>
        </a:p>
      </dgm:t>
    </dgm:pt>
    <dgm:pt modelId="{621C462D-32F7-4C91-B13C-FA6668D566EA}" type="sibTrans" cxnId="{B08C18EA-96CE-4E14-A917-3C5381EF47BE}">
      <dgm:prSet/>
      <dgm:spPr/>
      <dgm:t>
        <a:bodyPr/>
        <a:lstStyle/>
        <a:p>
          <a:endParaRPr lang="en-CA"/>
        </a:p>
      </dgm:t>
    </dgm:pt>
    <dgm:pt modelId="{0B50C8E2-D639-43C1-A374-20E09E9AD055}">
      <dgm:prSet phldrT="[Text]" phldr="0"/>
      <dgm:spPr/>
      <dgm:t>
        <a:bodyPr/>
        <a:lstStyle/>
        <a:p>
          <a:r>
            <a:rPr lang="en-CA"/>
            <a:t>Seller</a:t>
          </a:r>
        </a:p>
      </dgm:t>
    </dgm:pt>
    <dgm:pt modelId="{4B9D7A41-DFC9-49B9-9876-C34082FAE4BD}" type="parTrans" cxnId="{B7C61A95-5EFC-4CEE-9BA7-4503F75274D1}">
      <dgm:prSet/>
      <dgm:spPr/>
      <dgm:t>
        <a:bodyPr/>
        <a:lstStyle/>
        <a:p>
          <a:endParaRPr lang="en-CA"/>
        </a:p>
      </dgm:t>
    </dgm:pt>
    <dgm:pt modelId="{8A916975-E05C-4DF3-8390-2855482B4E91}" type="sibTrans" cxnId="{B7C61A95-5EFC-4CEE-9BA7-4503F75274D1}">
      <dgm:prSet/>
      <dgm:spPr/>
      <dgm:t>
        <a:bodyPr/>
        <a:lstStyle/>
        <a:p>
          <a:endParaRPr lang="en-CA"/>
        </a:p>
      </dgm:t>
    </dgm:pt>
    <dgm:pt modelId="{B23D7060-7FEA-4B55-9A79-482ED93AD32B}">
      <dgm:prSet phldrT="[Text]" phldr="0"/>
      <dgm:spPr/>
      <dgm:t>
        <a:bodyPr/>
        <a:lstStyle/>
        <a:p>
          <a:pPr>
            <a:buNone/>
          </a:pPr>
          <a:r>
            <a:rPr lang="en-US" b="1">
              <a:effectLst/>
              <a:latin typeface="Google Sans Text"/>
            </a:rPr>
            <a:t>Access:</a:t>
          </a:r>
          <a:r>
            <a:rPr lang="en-US">
              <a:effectLst/>
              <a:latin typeface="Google Sans Text"/>
            </a:rPr>
            <a:t> </a:t>
          </a:r>
          <a:r>
            <a:rPr lang="en-US" b="1">
              <a:effectLst/>
              <a:latin typeface="Google Sans Text"/>
            </a:rPr>
            <a:t>SELECT</a:t>
          </a:r>
          <a:r>
            <a:rPr lang="en-US">
              <a:effectLst/>
              <a:latin typeface="Google Sans Text"/>
            </a:rPr>
            <a:t> on all tables </a:t>
          </a:r>
          <a:r>
            <a:rPr lang="en-US" b="1">
              <a:effectLst/>
              <a:latin typeface="Google Sans Text"/>
            </a:rPr>
            <a:t>AND EXECUTE</a:t>
          </a:r>
          <a:r>
            <a:rPr lang="en-US">
              <a:effectLst/>
              <a:latin typeface="Google Sans Text"/>
            </a:rPr>
            <a:t> on the Place order SP. </a:t>
          </a:r>
          <a:r>
            <a:rPr lang="en-US" b="1">
              <a:effectLst/>
              <a:latin typeface="Google Sans Text"/>
            </a:rPr>
            <a:t>Purpose:</a:t>
          </a:r>
          <a:r>
            <a:rPr lang="en-US">
              <a:effectLst/>
              <a:latin typeface="Google Sans Text"/>
            </a:rPr>
            <a:t> Process sales transactions without having raw DML access</a:t>
          </a:r>
          <a:endParaRPr lang="en-CA"/>
        </a:p>
      </dgm:t>
    </dgm:pt>
    <dgm:pt modelId="{A7DF513D-5024-4082-A41C-E16D59A18B0D}" type="parTrans" cxnId="{ACE28D11-86B8-4E26-BC58-78D6FCA90C9E}">
      <dgm:prSet/>
      <dgm:spPr/>
      <dgm:t>
        <a:bodyPr/>
        <a:lstStyle/>
        <a:p>
          <a:endParaRPr lang="en-CA"/>
        </a:p>
      </dgm:t>
    </dgm:pt>
    <dgm:pt modelId="{1D4E9341-122E-4B52-8717-459338FECF63}" type="sibTrans" cxnId="{ACE28D11-86B8-4E26-BC58-78D6FCA90C9E}">
      <dgm:prSet/>
      <dgm:spPr/>
      <dgm:t>
        <a:bodyPr/>
        <a:lstStyle/>
        <a:p>
          <a:endParaRPr lang="en-CA"/>
        </a:p>
      </dgm:t>
    </dgm:pt>
    <dgm:pt modelId="{1CAC8E5E-45F5-42BF-B3D8-1EF57BF16AC5}">
      <dgm:prSet phldrT="[Text]" phldr="0"/>
      <dgm:spPr/>
      <dgm:t>
        <a:bodyPr/>
        <a:lstStyle/>
        <a:p>
          <a:r>
            <a:rPr lang="en-CA"/>
            <a:t>Customer</a:t>
          </a:r>
        </a:p>
      </dgm:t>
    </dgm:pt>
    <dgm:pt modelId="{36162B5E-3FD6-4F21-9055-2807615D9184}" type="parTrans" cxnId="{ADB10414-2CEC-49CD-A848-85F456B3DD0F}">
      <dgm:prSet/>
      <dgm:spPr/>
      <dgm:t>
        <a:bodyPr/>
        <a:lstStyle/>
        <a:p>
          <a:endParaRPr lang="en-CA"/>
        </a:p>
      </dgm:t>
    </dgm:pt>
    <dgm:pt modelId="{89CEC960-42A7-4E3B-A831-4AAA23799096}" type="sibTrans" cxnId="{ADB10414-2CEC-49CD-A848-85F456B3DD0F}">
      <dgm:prSet/>
      <dgm:spPr/>
      <dgm:t>
        <a:bodyPr/>
        <a:lstStyle/>
        <a:p>
          <a:endParaRPr lang="en-CA"/>
        </a:p>
      </dgm:t>
    </dgm:pt>
    <dgm:pt modelId="{5F9C6B4A-F2E3-46E0-991A-532BB6994D0B}">
      <dgm:prSet phldrT="[Text]"/>
      <dgm:spPr/>
      <dgm:t>
        <a:bodyPr/>
        <a:lstStyle/>
        <a:p>
          <a:pPr>
            <a:buNone/>
          </a:pPr>
          <a:r>
            <a:rPr lang="en-US" b="1">
              <a:effectLst/>
              <a:latin typeface="Google Sans Text"/>
            </a:rPr>
            <a:t>Access:</a:t>
          </a:r>
          <a:r>
            <a:rPr lang="en-US">
              <a:effectLst/>
              <a:latin typeface="Google Sans Text"/>
            </a:rPr>
            <a:t> </a:t>
          </a:r>
          <a:r>
            <a:rPr lang="en-US" b="1">
              <a:effectLst/>
              <a:latin typeface="Google Sans Text"/>
            </a:rPr>
            <a:t>LIMITED SELECT</a:t>
          </a:r>
          <a:r>
            <a:rPr lang="en-US">
              <a:effectLst/>
              <a:latin typeface="Google Sans Text"/>
            </a:rPr>
            <a:t> on Books (only title, </a:t>
          </a:r>
          <a:r>
            <a:rPr lang="en-US" err="1">
              <a:effectLst/>
              <a:latin typeface="Google Sans Text"/>
            </a:rPr>
            <a:t>unit_price</a:t>
          </a:r>
          <a:r>
            <a:rPr lang="en-US">
              <a:effectLst/>
              <a:latin typeface="Google Sans Text"/>
            </a:rPr>
            <a:t>, </a:t>
          </a:r>
          <a:r>
            <a:rPr lang="en-US" err="1">
              <a:effectLst/>
              <a:latin typeface="Google Sans Text"/>
            </a:rPr>
            <a:t>stock_quantity</a:t>
          </a:r>
          <a:r>
            <a:rPr lang="en-US">
              <a:effectLst/>
              <a:latin typeface="Google Sans Text"/>
            </a:rPr>
            <a:t>). </a:t>
          </a:r>
          <a:r>
            <a:rPr lang="en-US" b="1">
              <a:effectLst/>
              <a:latin typeface="Google Sans Text"/>
            </a:rPr>
            <a:t>Purpose:</a:t>
          </a:r>
          <a:r>
            <a:rPr lang="en-US">
              <a:effectLst/>
              <a:latin typeface="Google Sans Text"/>
            </a:rPr>
            <a:t> Browse inventory securely, preventing access to sensitive customer/order data.</a:t>
          </a:r>
          <a:endParaRPr lang="en-CA"/>
        </a:p>
      </dgm:t>
    </dgm:pt>
    <dgm:pt modelId="{59990995-6DEE-455D-AFE3-A45DFE7FCAEC}" type="parTrans" cxnId="{20877BCC-3847-4D3A-A56E-9866A0FFC1EA}">
      <dgm:prSet/>
      <dgm:spPr/>
      <dgm:t>
        <a:bodyPr/>
        <a:lstStyle/>
        <a:p>
          <a:endParaRPr lang="en-CA"/>
        </a:p>
      </dgm:t>
    </dgm:pt>
    <dgm:pt modelId="{46BEAF01-7402-4FA8-9AB1-F10E3EAB8F58}" type="sibTrans" cxnId="{20877BCC-3847-4D3A-A56E-9866A0FFC1EA}">
      <dgm:prSet/>
      <dgm:spPr/>
      <dgm:t>
        <a:bodyPr/>
        <a:lstStyle/>
        <a:p>
          <a:endParaRPr lang="en-CA"/>
        </a:p>
      </dgm:t>
    </dgm:pt>
    <dgm:pt modelId="{469E39F2-5E21-4B4C-B7F8-8A717A4710E2}" type="pres">
      <dgm:prSet presAssocID="{5BC9272C-14A8-4ACA-AE06-B59AFCF50220}" presName="Name0" presStyleCnt="0">
        <dgm:presLayoutVars>
          <dgm:dir/>
          <dgm:animLvl val="lvl"/>
          <dgm:resizeHandles val="exact"/>
        </dgm:presLayoutVars>
      </dgm:prSet>
      <dgm:spPr/>
    </dgm:pt>
    <dgm:pt modelId="{1BE12086-B26A-4DB7-A3DD-8305D893177B}" type="pres">
      <dgm:prSet presAssocID="{2E536E81-2D55-43D4-A2E3-B3D7C11D66C9}" presName="linNode" presStyleCnt="0"/>
      <dgm:spPr/>
    </dgm:pt>
    <dgm:pt modelId="{98C64F76-CE00-490F-89FA-95EFE5967830}" type="pres">
      <dgm:prSet presAssocID="{2E536E81-2D55-43D4-A2E3-B3D7C11D66C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5C102E9-47FD-4E75-B4A6-4EA7210D81F6}" type="pres">
      <dgm:prSet presAssocID="{2E536E81-2D55-43D4-A2E3-B3D7C11D66C9}" presName="descendantText" presStyleLbl="alignAccFollowNode1" presStyleIdx="0" presStyleCnt="3">
        <dgm:presLayoutVars>
          <dgm:bulletEnabled val="1"/>
        </dgm:presLayoutVars>
      </dgm:prSet>
      <dgm:spPr/>
    </dgm:pt>
    <dgm:pt modelId="{12842520-ABAC-476E-8B96-22E58080B9D7}" type="pres">
      <dgm:prSet presAssocID="{0DA3AADD-A1B2-4A98-93EB-5DF60D3E3965}" presName="sp" presStyleCnt="0"/>
      <dgm:spPr/>
    </dgm:pt>
    <dgm:pt modelId="{60F39474-468B-4A09-9E95-2B25DE393F29}" type="pres">
      <dgm:prSet presAssocID="{0B50C8E2-D639-43C1-A374-20E09E9AD055}" presName="linNode" presStyleCnt="0"/>
      <dgm:spPr/>
    </dgm:pt>
    <dgm:pt modelId="{E493F521-0B60-4B8C-B0EB-CA8368BCC9D5}" type="pres">
      <dgm:prSet presAssocID="{0B50C8E2-D639-43C1-A374-20E09E9AD05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CDC0B2B-E38E-408C-8712-D4FCEA1FE945}" type="pres">
      <dgm:prSet presAssocID="{0B50C8E2-D639-43C1-A374-20E09E9AD055}" presName="descendantText" presStyleLbl="alignAccFollowNode1" presStyleIdx="1" presStyleCnt="3" custLinFactNeighborX="1303" custLinFactNeighborY="-1373">
        <dgm:presLayoutVars>
          <dgm:bulletEnabled val="1"/>
        </dgm:presLayoutVars>
      </dgm:prSet>
      <dgm:spPr/>
    </dgm:pt>
    <dgm:pt modelId="{FBE29973-E151-4A66-BD63-4662BD017E8F}" type="pres">
      <dgm:prSet presAssocID="{8A916975-E05C-4DF3-8390-2855482B4E91}" presName="sp" presStyleCnt="0"/>
      <dgm:spPr/>
    </dgm:pt>
    <dgm:pt modelId="{A15AC91D-0362-417B-9AFD-F44B07EDCE57}" type="pres">
      <dgm:prSet presAssocID="{1CAC8E5E-45F5-42BF-B3D8-1EF57BF16AC5}" presName="linNode" presStyleCnt="0"/>
      <dgm:spPr/>
    </dgm:pt>
    <dgm:pt modelId="{F175B676-6C88-4C9E-9995-0B2A5EC6B065}" type="pres">
      <dgm:prSet presAssocID="{1CAC8E5E-45F5-42BF-B3D8-1EF57BF16AC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39C4670-6B56-4FD0-AD9A-3CBA6225297A}" type="pres">
      <dgm:prSet presAssocID="{1CAC8E5E-45F5-42BF-B3D8-1EF57BF16AC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D7A0909-4DB5-4055-8ED6-709FB5605E9B}" type="presOf" srcId="{2E536E81-2D55-43D4-A2E3-B3D7C11D66C9}" destId="{98C64F76-CE00-490F-89FA-95EFE5967830}" srcOrd="0" destOrd="0" presId="urn:microsoft.com/office/officeart/2005/8/layout/vList5"/>
    <dgm:cxn modelId="{ACE28D11-86B8-4E26-BC58-78D6FCA90C9E}" srcId="{0B50C8E2-D639-43C1-A374-20E09E9AD055}" destId="{B23D7060-7FEA-4B55-9A79-482ED93AD32B}" srcOrd="0" destOrd="0" parTransId="{A7DF513D-5024-4082-A41C-E16D59A18B0D}" sibTransId="{1D4E9341-122E-4B52-8717-459338FECF63}"/>
    <dgm:cxn modelId="{ADB10414-2CEC-49CD-A848-85F456B3DD0F}" srcId="{5BC9272C-14A8-4ACA-AE06-B59AFCF50220}" destId="{1CAC8E5E-45F5-42BF-B3D8-1EF57BF16AC5}" srcOrd="2" destOrd="0" parTransId="{36162B5E-3FD6-4F21-9055-2807615D9184}" sibTransId="{89CEC960-42A7-4E3B-A831-4AAA23799096}"/>
    <dgm:cxn modelId="{70073418-7BC5-4B08-91A2-33BA83AA4580}" type="presOf" srcId="{5BC9272C-14A8-4ACA-AE06-B59AFCF50220}" destId="{469E39F2-5E21-4B4C-B7F8-8A717A4710E2}" srcOrd="0" destOrd="0" presId="urn:microsoft.com/office/officeart/2005/8/layout/vList5"/>
    <dgm:cxn modelId="{C31A131C-6E52-42B4-84C4-74F22A3C2B1A}" type="presOf" srcId="{1CAC8E5E-45F5-42BF-B3D8-1EF57BF16AC5}" destId="{F175B676-6C88-4C9E-9995-0B2A5EC6B065}" srcOrd="0" destOrd="0" presId="urn:microsoft.com/office/officeart/2005/8/layout/vList5"/>
    <dgm:cxn modelId="{D8B8E84F-5E56-4275-AF12-76A566C6AAB7}" type="presOf" srcId="{9E97FE2D-83E8-4F9B-8509-7E8477F1EC5D}" destId="{85C102E9-47FD-4E75-B4A6-4EA7210D81F6}" srcOrd="0" destOrd="0" presId="urn:microsoft.com/office/officeart/2005/8/layout/vList5"/>
    <dgm:cxn modelId="{B7C61A95-5EFC-4CEE-9BA7-4503F75274D1}" srcId="{5BC9272C-14A8-4ACA-AE06-B59AFCF50220}" destId="{0B50C8E2-D639-43C1-A374-20E09E9AD055}" srcOrd="1" destOrd="0" parTransId="{4B9D7A41-DFC9-49B9-9876-C34082FAE4BD}" sibTransId="{8A916975-E05C-4DF3-8390-2855482B4E91}"/>
    <dgm:cxn modelId="{6F2D009B-FF1E-4772-B174-4E21E230FFC0}" type="presOf" srcId="{5F9C6B4A-F2E3-46E0-991A-532BB6994D0B}" destId="{439C4670-6B56-4FD0-AD9A-3CBA6225297A}" srcOrd="0" destOrd="0" presId="urn:microsoft.com/office/officeart/2005/8/layout/vList5"/>
    <dgm:cxn modelId="{6AFD02A7-82A9-4CD6-A177-4BF13443FD5F}" type="presOf" srcId="{B23D7060-7FEA-4B55-9A79-482ED93AD32B}" destId="{0CDC0B2B-E38E-408C-8712-D4FCEA1FE945}" srcOrd="0" destOrd="0" presId="urn:microsoft.com/office/officeart/2005/8/layout/vList5"/>
    <dgm:cxn modelId="{03283ABF-9DF8-453B-A41F-2FFE59CE7A80}" type="presOf" srcId="{0B50C8E2-D639-43C1-A374-20E09E9AD055}" destId="{E493F521-0B60-4B8C-B0EB-CA8368BCC9D5}" srcOrd="0" destOrd="0" presId="urn:microsoft.com/office/officeart/2005/8/layout/vList5"/>
    <dgm:cxn modelId="{20877BCC-3847-4D3A-A56E-9866A0FFC1EA}" srcId="{1CAC8E5E-45F5-42BF-B3D8-1EF57BF16AC5}" destId="{5F9C6B4A-F2E3-46E0-991A-532BB6994D0B}" srcOrd="0" destOrd="0" parTransId="{59990995-6DEE-455D-AFE3-A45DFE7FCAEC}" sibTransId="{46BEAF01-7402-4FA8-9AB1-F10E3EAB8F58}"/>
    <dgm:cxn modelId="{B08C18EA-96CE-4E14-A917-3C5381EF47BE}" srcId="{2E536E81-2D55-43D4-A2E3-B3D7C11D66C9}" destId="{9E97FE2D-83E8-4F9B-8509-7E8477F1EC5D}" srcOrd="0" destOrd="0" parTransId="{C6D1548E-A81C-4C83-B6C5-9A7678E20999}" sibTransId="{621C462D-32F7-4C91-B13C-FA6668D566EA}"/>
    <dgm:cxn modelId="{C20931FD-95DF-40EC-A39D-35E3AB5825C9}" srcId="{5BC9272C-14A8-4ACA-AE06-B59AFCF50220}" destId="{2E536E81-2D55-43D4-A2E3-B3D7C11D66C9}" srcOrd="0" destOrd="0" parTransId="{B6807F01-AD2F-47F1-9762-B7E1842FD519}" sibTransId="{0DA3AADD-A1B2-4A98-93EB-5DF60D3E3965}"/>
    <dgm:cxn modelId="{B2442416-B92C-4847-938A-A400350B6437}" type="presParOf" srcId="{469E39F2-5E21-4B4C-B7F8-8A717A4710E2}" destId="{1BE12086-B26A-4DB7-A3DD-8305D893177B}" srcOrd="0" destOrd="0" presId="urn:microsoft.com/office/officeart/2005/8/layout/vList5"/>
    <dgm:cxn modelId="{2DA5D6DE-08CC-4596-9536-55C75CB8C4F7}" type="presParOf" srcId="{1BE12086-B26A-4DB7-A3DD-8305D893177B}" destId="{98C64F76-CE00-490F-89FA-95EFE5967830}" srcOrd="0" destOrd="0" presId="urn:microsoft.com/office/officeart/2005/8/layout/vList5"/>
    <dgm:cxn modelId="{29C13197-B83D-4616-BD28-987BBC5E86A1}" type="presParOf" srcId="{1BE12086-B26A-4DB7-A3DD-8305D893177B}" destId="{85C102E9-47FD-4E75-B4A6-4EA7210D81F6}" srcOrd="1" destOrd="0" presId="urn:microsoft.com/office/officeart/2005/8/layout/vList5"/>
    <dgm:cxn modelId="{56C140C5-CCB1-4EE9-881E-760EE00DA331}" type="presParOf" srcId="{469E39F2-5E21-4B4C-B7F8-8A717A4710E2}" destId="{12842520-ABAC-476E-8B96-22E58080B9D7}" srcOrd="1" destOrd="0" presId="urn:microsoft.com/office/officeart/2005/8/layout/vList5"/>
    <dgm:cxn modelId="{E6F80F6B-5BDB-456B-A5F3-596AF00463C2}" type="presParOf" srcId="{469E39F2-5E21-4B4C-B7F8-8A717A4710E2}" destId="{60F39474-468B-4A09-9E95-2B25DE393F29}" srcOrd="2" destOrd="0" presId="urn:microsoft.com/office/officeart/2005/8/layout/vList5"/>
    <dgm:cxn modelId="{87DFB776-A4E6-464E-900E-0A8B7E2C472D}" type="presParOf" srcId="{60F39474-468B-4A09-9E95-2B25DE393F29}" destId="{E493F521-0B60-4B8C-B0EB-CA8368BCC9D5}" srcOrd="0" destOrd="0" presId="urn:microsoft.com/office/officeart/2005/8/layout/vList5"/>
    <dgm:cxn modelId="{1BAEDA70-10E8-4FA4-8316-575192E170B1}" type="presParOf" srcId="{60F39474-468B-4A09-9E95-2B25DE393F29}" destId="{0CDC0B2B-E38E-408C-8712-D4FCEA1FE945}" srcOrd="1" destOrd="0" presId="urn:microsoft.com/office/officeart/2005/8/layout/vList5"/>
    <dgm:cxn modelId="{9ECBBE99-5B2D-4A45-8FBF-FD63681B2B11}" type="presParOf" srcId="{469E39F2-5E21-4B4C-B7F8-8A717A4710E2}" destId="{FBE29973-E151-4A66-BD63-4662BD017E8F}" srcOrd="3" destOrd="0" presId="urn:microsoft.com/office/officeart/2005/8/layout/vList5"/>
    <dgm:cxn modelId="{7B77377A-F096-44A5-A92A-0A02FEC8F547}" type="presParOf" srcId="{469E39F2-5E21-4B4C-B7F8-8A717A4710E2}" destId="{A15AC91D-0362-417B-9AFD-F44B07EDCE57}" srcOrd="4" destOrd="0" presId="urn:microsoft.com/office/officeart/2005/8/layout/vList5"/>
    <dgm:cxn modelId="{593E4ADF-B863-490C-A7DE-9119C7061327}" type="presParOf" srcId="{A15AC91D-0362-417B-9AFD-F44B07EDCE57}" destId="{F175B676-6C88-4C9E-9995-0B2A5EC6B065}" srcOrd="0" destOrd="0" presId="urn:microsoft.com/office/officeart/2005/8/layout/vList5"/>
    <dgm:cxn modelId="{C837F276-2FAE-466A-9703-BEF5686FBE8B}" type="presParOf" srcId="{A15AC91D-0362-417B-9AFD-F44B07EDCE57}" destId="{439C4670-6B56-4FD0-AD9A-3CBA6225297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102E9-47FD-4E75-B4A6-4EA7210D81F6}">
      <dsp:nvSpPr>
        <dsp:cNvPr id="0" name=""/>
        <dsp:cNvSpPr/>
      </dsp:nvSpPr>
      <dsp:spPr>
        <a:xfrm rot="5400000">
          <a:off x="4755272" y="-1708269"/>
          <a:ext cx="1352160" cy="5111861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>
              <a:effectLst/>
              <a:latin typeface="Google Sans Text"/>
            </a:rPr>
            <a:t>Access:</a:t>
          </a:r>
          <a:r>
            <a:rPr lang="en-US" sz="2000" kern="1200">
              <a:effectLst/>
              <a:latin typeface="Google Sans Text"/>
            </a:rPr>
            <a:t> </a:t>
          </a:r>
          <a:r>
            <a:rPr lang="en-US" sz="2000" b="1" kern="1200">
              <a:effectLst/>
              <a:latin typeface="Google Sans Text"/>
            </a:rPr>
            <a:t>ALL PRIVILEGES</a:t>
          </a:r>
          <a:r>
            <a:rPr lang="en-US" sz="2000" kern="1200">
              <a:effectLst/>
              <a:latin typeface="Google Sans Text"/>
            </a:rPr>
            <a:t> on </a:t>
          </a:r>
          <a:r>
            <a:rPr lang="en-US" sz="2000" kern="1200" err="1">
              <a:effectLst/>
              <a:latin typeface="Google Sans Text"/>
            </a:rPr>
            <a:t>bookstore_db</a:t>
          </a:r>
          <a:r>
            <a:rPr lang="en-US" sz="2000" kern="1200">
              <a:effectLst/>
              <a:latin typeface="Google Sans Text"/>
            </a:rPr>
            <a:t>.*. </a:t>
          </a:r>
          <a:r>
            <a:rPr lang="en-US" sz="2000" b="1" kern="1200">
              <a:effectLst/>
              <a:latin typeface="Google Sans Text"/>
            </a:rPr>
            <a:t>Purpose:</a:t>
          </a:r>
          <a:r>
            <a:rPr lang="en-US" sz="2000" kern="1200">
              <a:effectLst/>
              <a:latin typeface="Google Sans Text"/>
            </a:rPr>
            <a:t> System maintenance, data backup, and user management.</a:t>
          </a:r>
          <a:endParaRPr lang="en-CA" sz="2000" kern="1200"/>
        </a:p>
      </dsp:txBody>
      <dsp:txXfrm rot="-5400000">
        <a:off x="2875422" y="237588"/>
        <a:ext cx="5045854" cy="1220146"/>
      </dsp:txXfrm>
    </dsp:sp>
    <dsp:sp modelId="{98C64F76-CE00-490F-89FA-95EFE5967830}">
      <dsp:nvSpPr>
        <dsp:cNvPr id="0" name=""/>
        <dsp:cNvSpPr/>
      </dsp:nvSpPr>
      <dsp:spPr>
        <a:xfrm>
          <a:off x="0" y="2560"/>
          <a:ext cx="2875422" cy="1690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500" kern="1200"/>
            <a:t>Admin</a:t>
          </a:r>
        </a:p>
      </dsp:txBody>
      <dsp:txXfrm>
        <a:off x="82509" y="85069"/>
        <a:ext cx="2710404" cy="1525182"/>
      </dsp:txXfrm>
    </dsp:sp>
    <dsp:sp modelId="{0CDC0B2B-E38E-408C-8712-D4FCEA1FE945}">
      <dsp:nvSpPr>
        <dsp:cNvPr id="0" name=""/>
        <dsp:cNvSpPr/>
      </dsp:nvSpPr>
      <dsp:spPr>
        <a:xfrm rot="5400000">
          <a:off x="4755272" y="47875"/>
          <a:ext cx="1352160" cy="511186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>
              <a:effectLst/>
              <a:latin typeface="Google Sans Text"/>
            </a:rPr>
            <a:t>Access:</a:t>
          </a:r>
          <a:r>
            <a:rPr lang="en-US" sz="2000" kern="1200">
              <a:effectLst/>
              <a:latin typeface="Google Sans Text"/>
            </a:rPr>
            <a:t> </a:t>
          </a:r>
          <a:r>
            <a:rPr lang="en-US" sz="2000" b="1" kern="1200">
              <a:effectLst/>
              <a:latin typeface="Google Sans Text"/>
            </a:rPr>
            <a:t>SELECT</a:t>
          </a:r>
          <a:r>
            <a:rPr lang="en-US" sz="2000" kern="1200">
              <a:effectLst/>
              <a:latin typeface="Google Sans Text"/>
            </a:rPr>
            <a:t> on all tables </a:t>
          </a:r>
          <a:r>
            <a:rPr lang="en-US" sz="2000" b="1" kern="1200">
              <a:effectLst/>
              <a:latin typeface="Google Sans Text"/>
            </a:rPr>
            <a:t>AND EXECUTE</a:t>
          </a:r>
          <a:r>
            <a:rPr lang="en-US" sz="2000" kern="1200">
              <a:effectLst/>
              <a:latin typeface="Google Sans Text"/>
            </a:rPr>
            <a:t> on the Place order SP. </a:t>
          </a:r>
          <a:r>
            <a:rPr lang="en-US" sz="2000" b="1" kern="1200">
              <a:effectLst/>
              <a:latin typeface="Google Sans Text"/>
            </a:rPr>
            <a:t>Purpose:</a:t>
          </a:r>
          <a:r>
            <a:rPr lang="en-US" sz="2000" kern="1200">
              <a:effectLst/>
              <a:latin typeface="Google Sans Text"/>
            </a:rPr>
            <a:t> Process sales transactions without having raw DML access</a:t>
          </a:r>
          <a:endParaRPr lang="en-CA" sz="2000" kern="1200"/>
        </a:p>
      </dsp:txBody>
      <dsp:txXfrm rot="-5400000">
        <a:off x="2875422" y="1993733"/>
        <a:ext cx="5045854" cy="1220146"/>
      </dsp:txXfrm>
    </dsp:sp>
    <dsp:sp modelId="{E493F521-0B60-4B8C-B0EB-CA8368BCC9D5}">
      <dsp:nvSpPr>
        <dsp:cNvPr id="0" name=""/>
        <dsp:cNvSpPr/>
      </dsp:nvSpPr>
      <dsp:spPr>
        <a:xfrm>
          <a:off x="0" y="1777271"/>
          <a:ext cx="2875422" cy="1690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500" kern="1200"/>
            <a:t>Seller</a:t>
          </a:r>
        </a:p>
      </dsp:txBody>
      <dsp:txXfrm>
        <a:off x="82509" y="1859780"/>
        <a:ext cx="2710404" cy="1525182"/>
      </dsp:txXfrm>
    </dsp:sp>
    <dsp:sp modelId="{439C4670-6B56-4FD0-AD9A-3CBA6225297A}">
      <dsp:nvSpPr>
        <dsp:cNvPr id="0" name=""/>
        <dsp:cNvSpPr/>
      </dsp:nvSpPr>
      <dsp:spPr>
        <a:xfrm rot="5400000">
          <a:off x="4755272" y="1841151"/>
          <a:ext cx="1352160" cy="511186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1" kern="1200">
              <a:effectLst/>
              <a:latin typeface="Google Sans Text"/>
            </a:rPr>
            <a:t>Access:</a:t>
          </a:r>
          <a:r>
            <a:rPr lang="en-US" sz="2000" kern="1200">
              <a:effectLst/>
              <a:latin typeface="Google Sans Text"/>
            </a:rPr>
            <a:t> </a:t>
          </a:r>
          <a:r>
            <a:rPr lang="en-US" sz="2000" b="1" kern="1200">
              <a:effectLst/>
              <a:latin typeface="Google Sans Text"/>
            </a:rPr>
            <a:t>LIMITED SELECT</a:t>
          </a:r>
          <a:r>
            <a:rPr lang="en-US" sz="2000" kern="1200">
              <a:effectLst/>
              <a:latin typeface="Google Sans Text"/>
            </a:rPr>
            <a:t> on Books (only title, </a:t>
          </a:r>
          <a:r>
            <a:rPr lang="en-US" sz="2000" kern="1200" err="1">
              <a:effectLst/>
              <a:latin typeface="Google Sans Text"/>
            </a:rPr>
            <a:t>unit_price</a:t>
          </a:r>
          <a:r>
            <a:rPr lang="en-US" sz="2000" kern="1200">
              <a:effectLst/>
              <a:latin typeface="Google Sans Text"/>
            </a:rPr>
            <a:t>, </a:t>
          </a:r>
          <a:r>
            <a:rPr lang="en-US" sz="2000" kern="1200" err="1">
              <a:effectLst/>
              <a:latin typeface="Google Sans Text"/>
            </a:rPr>
            <a:t>stock_quantity</a:t>
          </a:r>
          <a:r>
            <a:rPr lang="en-US" sz="2000" kern="1200">
              <a:effectLst/>
              <a:latin typeface="Google Sans Text"/>
            </a:rPr>
            <a:t>). </a:t>
          </a:r>
          <a:r>
            <a:rPr lang="en-US" sz="2000" b="1" kern="1200">
              <a:effectLst/>
              <a:latin typeface="Google Sans Text"/>
            </a:rPr>
            <a:t>Purpose:</a:t>
          </a:r>
          <a:r>
            <a:rPr lang="en-US" sz="2000" kern="1200">
              <a:effectLst/>
              <a:latin typeface="Google Sans Text"/>
            </a:rPr>
            <a:t> Browse inventory securely, preventing access to sensitive customer/order data.</a:t>
          </a:r>
          <a:endParaRPr lang="en-CA" sz="2000" kern="1200"/>
        </a:p>
      </dsp:txBody>
      <dsp:txXfrm rot="-5400000">
        <a:off x="2875422" y="3787009"/>
        <a:ext cx="5045854" cy="1220146"/>
      </dsp:txXfrm>
    </dsp:sp>
    <dsp:sp modelId="{F175B676-6C88-4C9E-9995-0B2A5EC6B065}">
      <dsp:nvSpPr>
        <dsp:cNvPr id="0" name=""/>
        <dsp:cNvSpPr/>
      </dsp:nvSpPr>
      <dsp:spPr>
        <a:xfrm>
          <a:off x="0" y="3551982"/>
          <a:ext cx="2875422" cy="1690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500" kern="1200"/>
            <a:t>Customer</a:t>
          </a:r>
        </a:p>
      </dsp:txBody>
      <dsp:txXfrm>
        <a:off x="82509" y="3634491"/>
        <a:ext cx="2710404" cy="1525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4222" spc="-89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2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 algn="ctr">
              <a:buNone/>
              <a:defRPr sz="4267"/>
            </a:lvl2pPr>
            <a:lvl3pPr marL="1625620" indent="0" algn="ctr">
              <a:buNone/>
              <a:defRPr sz="4267"/>
            </a:lvl3pPr>
            <a:lvl4pPr marL="2438430" indent="0" algn="ctr">
              <a:buNone/>
              <a:defRPr sz="3556"/>
            </a:lvl4pPr>
            <a:lvl5pPr marL="3251241" indent="0" algn="ctr">
              <a:buNone/>
              <a:defRPr sz="3556"/>
            </a:lvl5pPr>
            <a:lvl6pPr marL="4064051" indent="0" algn="ctr">
              <a:buNone/>
              <a:defRPr sz="3556"/>
            </a:lvl6pPr>
            <a:lvl7pPr marL="4876861" indent="0" algn="ctr">
              <a:buNone/>
              <a:defRPr sz="3556"/>
            </a:lvl7pPr>
            <a:lvl8pPr marL="5689671" indent="0" algn="ctr">
              <a:buNone/>
              <a:defRPr sz="3556"/>
            </a:lvl8pPr>
            <a:lvl9pPr marL="6502481" indent="0" algn="ctr">
              <a:buNone/>
              <a:defRPr sz="3556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74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88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4222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33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7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91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9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8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4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1" y="7612380"/>
            <a:ext cx="15170468" cy="1234440"/>
          </a:xfrm>
        </p:spPr>
        <p:txBody>
          <a:bodyPr lIns="91440" tIns="0" rIns="91440" bIns="0" anchor="b">
            <a:no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6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067"/>
              </a:spcAft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2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18453"/>
            <a:ext cx="3943350" cy="8639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18453"/>
            <a:ext cx="11601450" cy="863984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3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5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pngall.com/database-p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 rot="5400000">
            <a:off x="14118381" y="5917879"/>
            <a:ext cx="2576441" cy="194208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87560" y="5411453"/>
            <a:ext cx="579048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CA" sz="2800" b="1">
                <a:latin typeface="Calibri"/>
                <a:ea typeface="Calibri"/>
                <a:cs typeface="Calibri"/>
              </a:rPr>
              <a:t>Group 1</a:t>
            </a:r>
          </a:p>
          <a:p>
            <a:r>
              <a:rPr lang="en-CA" sz="2800">
                <a:latin typeface="Calibri"/>
                <a:ea typeface="Calibri"/>
                <a:cs typeface="Calibri"/>
              </a:rPr>
              <a:t>Pooja Solanki</a:t>
            </a:r>
          </a:p>
          <a:p>
            <a:r>
              <a:rPr lang="en-CA" sz="2800" err="1">
                <a:latin typeface="Calibri"/>
                <a:ea typeface="Calibri"/>
                <a:cs typeface="Calibri"/>
              </a:rPr>
              <a:t>Pushpinder</a:t>
            </a:r>
            <a:r>
              <a:rPr lang="en-CA" sz="2800">
                <a:latin typeface="Calibri"/>
                <a:ea typeface="Calibri"/>
                <a:cs typeface="Calibri"/>
              </a:rPr>
              <a:t> Kaur</a:t>
            </a:r>
          </a:p>
          <a:p>
            <a:r>
              <a:rPr lang="en-CA" sz="2800" err="1">
                <a:latin typeface="Calibri"/>
                <a:ea typeface="Calibri"/>
                <a:cs typeface="Calibri"/>
              </a:rPr>
              <a:t>Jaypreet</a:t>
            </a:r>
            <a:r>
              <a:rPr lang="en-CA" sz="2800">
                <a:latin typeface="Calibri"/>
                <a:ea typeface="Calibri"/>
                <a:cs typeface="Calibri"/>
              </a:rPr>
              <a:t> Kaur Sidhu</a:t>
            </a:r>
          </a:p>
          <a:p>
            <a:r>
              <a:rPr lang="en-CA" sz="2800">
                <a:latin typeface="Calibri"/>
                <a:ea typeface="Calibri"/>
                <a:cs typeface="Calibri"/>
              </a:rPr>
              <a:t>Chimdi Nwigwe</a:t>
            </a:r>
          </a:p>
          <a:p>
            <a:r>
              <a:rPr lang="en-CA" sz="2800">
                <a:latin typeface="Calibri"/>
                <a:ea typeface="Calibri"/>
                <a:cs typeface="Calibri"/>
              </a:rPr>
              <a:t>Jose Plaza Cedeno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D86862CD-F160-0C7B-93D0-6FC5EFDC13A1}"/>
              </a:ext>
            </a:extLst>
          </p:cNvPr>
          <p:cNvSpPr txBox="1"/>
          <p:nvPr/>
        </p:nvSpPr>
        <p:spPr>
          <a:xfrm>
            <a:off x="695832" y="1129297"/>
            <a:ext cx="8449137" cy="2889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CA" sz="6600" b="1">
                <a:latin typeface="Segoe UI"/>
                <a:ea typeface="Calibri"/>
                <a:cs typeface="Calibri"/>
              </a:rPr>
              <a:t>Online Bookstore </a:t>
            </a:r>
            <a:endParaRPr lang="en-US" sz="6600" b="1">
              <a:latin typeface="Segoe U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CA" sz="6600" b="1">
                <a:latin typeface="Segoe UI"/>
                <a:ea typeface="Calibri"/>
                <a:cs typeface="Calibri"/>
              </a:rPr>
              <a:t>Management System</a:t>
            </a:r>
            <a:endParaRPr lang="en-US" sz="6600" b="1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</p:txBody>
      </p:sp>
      <p:pic>
        <p:nvPicPr>
          <p:cNvPr id="2" name="Picture 1" descr="Hands holding a phone with a book on it&#10;&#10;AI-generated content may be incorrect.">
            <a:extLst>
              <a:ext uri="{FF2B5EF4-FFF2-40B4-BE49-F238E27FC236}">
                <a16:creationId xmlns:a16="http://schemas.microsoft.com/office/drawing/2014/main" id="{D9F2EB6F-CF17-AC94-5386-6E79A9052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573" y="1337415"/>
            <a:ext cx="8958718" cy="8160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5415" y="544235"/>
            <a:ext cx="10204545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CA" sz="4800" b="1">
                <a:latin typeface="Calibri"/>
                <a:ea typeface="Calibri"/>
                <a:cs typeface="Calibri"/>
              </a:rPr>
              <a:t>Project Scope and Components</a:t>
            </a:r>
            <a:endParaRPr lang="en-US" sz="4800" b="1">
              <a:solidFill>
                <a:srgbClr val="000000"/>
              </a:solidFill>
              <a:latin typeface="Calibri"/>
              <a:ea typeface="Calibri"/>
              <a:cs typeface="Calibri"/>
              <a:sym typeface="League Spartan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08A53BE-0744-AE24-423A-AED759832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103825"/>
              </p:ext>
            </p:extLst>
          </p:nvPr>
        </p:nvGraphicFramePr>
        <p:xfrm>
          <a:off x="610643" y="1847588"/>
          <a:ext cx="12917766" cy="706778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31979">
                  <a:extLst>
                    <a:ext uri="{9D8B030D-6E8A-4147-A177-3AD203B41FA5}">
                      <a16:colId xmlns:a16="http://schemas.microsoft.com/office/drawing/2014/main" val="3817962759"/>
                    </a:ext>
                  </a:extLst>
                </a:gridCol>
                <a:gridCol w="8885787">
                  <a:extLst>
                    <a:ext uri="{9D8B030D-6E8A-4147-A177-3AD203B41FA5}">
                      <a16:colId xmlns:a16="http://schemas.microsoft.com/office/drawing/2014/main" val="3442411235"/>
                    </a:ext>
                  </a:extLst>
                </a:gridCol>
              </a:tblGrid>
              <a:tr h="7572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Element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Content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68995"/>
                  </a:ext>
                </a:extLst>
              </a:tr>
              <a:tr h="7572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Title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Project Scope: Simulating E-commerce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1386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Goal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To design, implement, and secure a transactional database capable of managing book sales, inventory, and user access.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10747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Core Structure (7 Tables)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Books, Authors, Categories, Customers, Orders, </a:t>
                      </a:r>
                      <a:r>
                        <a:rPr lang="en-US" sz="2400" b="1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OrderDetails</a:t>
                      </a: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, Payments.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586602"/>
                  </a:ext>
                </a:extLst>
              </a:tr>
              <a:tr h="18679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Advanced Database Components 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14350" indent="-514350" rtl="0">
                        <a:buAutoNum type="arabicPeriod"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Stored Procedures (SPs) </a:t>
                      </a:r>
                      <a:endParaRPr lang="en-US" sz="2400"/>
                    </a:p>
                    <a:p>
                      <a:pPr marL="514350" lvl="0" indent="-514350">
                        <a:buAutoNum type="arabicPeriod"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Views </a:t>
                      </a:r>
                    </a:p>
                    <a:p>
                      <a:pPr marL="0" indent="0" rtl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3.    User-Defined Functions (UDFs)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4.    Events</a:t>
                      </a:r>
                      <a:endParaRPr lang="en-US" sz="2400"/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13584"/>
                  </a:ext>
                </a:extLst>
              </a:tr>
              <a:tr h="10096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Security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Implementation of Admin, Seller, and Customer Roles/Permissions.</a:t>
                      </a:r>
                    </a:p>
                  </a:txBody>
                  <a:tcPr marL="114300" marR="11430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765936"/>
                  </a:ext>
                </a:extLst>
              </a:tr>
            </a:tbl>
          </a:graphicData>
        </a:graphic>
      </p:graphicFrame>
      <p:pic>
        <p:nvPicPr>
          <p:cNvPr id="12" name="Graphic 11" descr="Meeting with solid fill">
            <a:extLst>
              <a:ext uri="{FF2B5EF4-FFF2-40B4-BE49-F238E27FC236}">
                <a16:creationId xmlns:a16="http://schemas.microsoft.com/office/drawing/2014/main" id="{D1FB888B-1A20-EBD0-6DF8-A755D70BA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82428" y="6634735"/>
            <a:ext cx="4218140" cy="36544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 rot="5400000">
            <a:off x="2112819" y="7890886"/>
            <a:ext cx="378722" cy="2775561"/>
            <a:chOff x="0" y="0"/>
            <a:chExt cx="336907" cy="24691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6907" cy="2469110"/>
            </a:xfrm>
            <a:custGeom>
              <a:avLst/>
              <a:gdLst/>
              <a:ahLst/>
              <a:cxnLst/>
              <a:rect l="l" t="t" r="r" b="b"/>
              <a:pathLst>
                <a:path w="336907" h="2469110">
                  <a:moveTo>
                    <a:pt x="0" y="0"/>
                  </a:moveTo>
                  <a:lnTo>
                    <a:pt x="336907" y="0"/>
                  </a:lnTo>
                  <a:lnTo>
                    <a:pt x="336907" y="2469110"/>
                  </a:lnTo>
                  <a:lnTo>
                    <a:pt x="0" y="2469110"/>
                  </a:lnTo>
                  <a:close/>
                </a:path>
              </a:pathLst>
            </a:custGeom>
            <a:solidFill>
              <a:srgbClr val="CD050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36907" cy="2516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27048" y="818974"/>
            <a:ext cx="8212332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CA" sz="4800" b="1">
                <a:latin typeface="Calibri"/>
                <a:ea typeface="Calibri"/>
                <a:cs typeface="Calibri"/>
              </a:rPr>
              <a:t>Database Design: The Blueprint </a:t>
            </a:r>
            <a:endParaRPr lang="en-US" sz="48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59FBD7-4D4B-B87A-5614-CD5CCF196268}"/>
              </a:ext>
            </a:extLst>
          </p:cNvPr>
          <p:cNvSpPr txBox="1"/>
          <p:nvPr/>
        </p:nvSpPr>
        <p:spPr>
          <a:xfrm>
            <a:off x="431887" y="2310569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CA" sz="3600" b="1">
                <a:latin typeface="Calibri"/>
                <a:ea typeface="Calibri"/>
                <a:cs typeface="Calibri"/>
              </a:rPr>
              <a:t>Entity-Relationship Diagram (ERD)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024FE-DB5E-2015-9E41-B53CEDE45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" t="474" r="277" b="-675"/>
          <a:stretch>
            <a:fillRect/>
          </a:stretch>
        </p:blipFill>
        <p:spPr>
          <a:xfrm>
            <a:off x="8889894" y="395941"/>
            <a:ext cx="7663739" cy="8665291"/>
          </a:xfrm>
          <a:prstGeom prst="rect">
            <a:avLst/>
          </a:prstGeom>
        </p:spPr>
      </p:pic>
      <p:pic>
        <p:nvPicPr>
          <p:cNvPr id="10" name="Picture 9" descr="A blue barrel with white text&#10;&#10;AI-generated content may be incorrect.">
            <a:extLst>
              <a:ext uri="{FF2B5EF4-FFF2-40B4-BE49-F238E27FC236}">
                <a16:creationId xmlns:a16="http://schemas.microsoft.com/office/drawing/2014/main" id="{7A60B7BB-FF40-8021-4FB3-77C3E46AD0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0744" y="5146113"/>
            <a:ext cx="2798451" cy="38407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911F53-48A8-F416-8FD7-1782C8501E96}"/>
              </a:ext>
            </a:extLst>
          </p:cNvPr>
          <p:cNvSpPr txBox="1"/>
          <p:nvPr/>
        </p:nvSpPr>
        <p:spPr>
          <a:xfrm>
            <a:off x="12760079" y="5764100"/>
            <a:ext cx="3392913" cy="92120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 rot="16200000">
            <a:off x="15681876" y="498119"/>
            <a:ext cx="2127415" cy="186160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22680" y="869857"/>
            <a:ext cx="10388556" cy="1143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CA" sz="4800" b="1">
                <a:latin typeface="Calibri"/>
                <a:ea typeface="Calibri"/>
                <a:cs typeface="Calibri"/>
              </a:rPr>
              <a:t>Data Structure and Normalization</a:t>
            </a:r>
            <a:endParaRPr lang="en-US" sz="4800" b="1">
              <a:latin typeface="Calibri"/>
              <a:ea typeface="Calibri"/>
              <a:cs typeface="Calibri"/>
              <a:sym typeface="League Spartan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86C2EAF-3EB1-85F7-3150-74203DFBE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38985"/>
              </p:ext>
            </p:extLst>
          </p:nvPr>
        </p:nvGraphicFramePr>
        <p:xfrm>
          <a:off x="214574" y="2172421"/>
          <a:ext cx="8730939" cy="54732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13401">
                  <a:extLst>
                    <a:ext uri="{9D8B030D-6E8A-4147-A177-3AD203B41FA5}">
                      <a16:colId xmlns:a16="http://schemas.microsoft.com/office/drawing/2014/main" val="1472559610"/>
                    </a:ext>
                  </a:extLst>
                </a:gridCol>
                <a:gridCol w="6717538">
                  <a:extLst>
                    <a:ext uri="{9D8B030D-6E8A-4147-A177-3AD203B41FA5}">
                      <a16:colId xmlns:a16="http://schemas.microsoft.com/office/drawing/2014/main" val="1955177408"/>
                    </a:ext>
                  </a:extLst>
                </a:gridCol>
              </a:tblGrid>
              <a:tr h="585614">
                <a:tc grid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700" b="1" kern="1200">
                          <a:solidFill>
                            <a:schemeClr val="bg1"/>
                          </a:solidFill>
                          <a:effectLst/>
                        </a:rPr>
                        <a:t>Table Creation and Normalization (DDL)</a:t>
                      </a:r>
                      <a:endParaRPr lang="en-US" sz="27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238" marR="85238" marT="56826" marB="56826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5238" marR="85238" marT="56826" marB="5682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06804"/>
                  </a:ext>
                </a:extLst>
              </a:tr>
              <a:tr h="11487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Base Tables</a:t>
                      </a:r>
                      <a:endParaRPr lang="en-C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7 Tables: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Authors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Categories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Books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(Core Inventory),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Customers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(User Data),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Orders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2000" err="1">
                          <a:solidFill>
                            <a:srgbClr val="444746"/>
                          </a:solidFill>
                          <a:effectLst/>
                        </a:rPr>
                        <a:t>OrderDetails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Payments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(Transaction Log).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77076"/>
                  </a:ext>
                </a:extLst>
              </a:tr>
              <a:tr h="14640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Normalization</a:t>
                      </a:r>
                      <a:endParaRPr lang="en-C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Adherence to DDL principles to achieve a normalized structure. </a:t>
                      </a:r>
                    </a:p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Key focus: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Elimination of data redundancy by separating Authors/Categories from the main Books table.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10204"/>
                  </a:ext>
                </a:extLst>
              </a:tr>
              <a:tr h="14640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Data Integrity</a:t>
                      </a:r>
                      <a:endParaRPr lang="en-C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Enforced using: </a:t>
                      </a: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Primary Keys (PKs)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 for unique identification. </a:t>
                      </a: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Foreign Keys (FKs)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 to prevent orphaned data in </a:t>
                      </a:r>
                      <a:r>
                        <a:rPr lang="en-CA" sz="2000" err="1">
                          <a:solidFill>
                            <a:srgbClr val="444746"/>
                          </a:solidFill>
                          <a:effectLst/>
                        </a:rPr>
                        <a:t>OrderDetails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 or </a:t>
                      </a:r>
                      <a:r>
                        <a:rPr lang="en-CA" sz="2000">
                          <a:solidFill>
                            <a:srgbClr val="444746"/>
                          </a:solidFill>
                          <a:effectLst/>
                        </a:rPr>
                        <a:t>Orders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. </a:t>
                      </a: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Data Types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en-CA" sz="2000">
                          <a:solidFill>
                            <a:srgbClr val="444746"/>
                          </a:solidFill>
                          <a:effectLst/>
                        </a:rPr>
                        <a:t>DECIMAL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CA" sz="2000">
                          <a:solidFill>
                            <a:srgbClr val="444746"/>
                          </a:solidFill>
                          <a:effectLst/>
                        </a:rPr>
                        <a:t>DATETIME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CA" sz="2000">
                          <a:solidFill>
                            <a:srgbClr val="444746"/>
                          </a:solidFill>
                          <a:effectLst/>
                        </a:rPr>
                        <a:t>ENUM</a:t>
                      </a:r>
                      <a:r>
                        <a:rPr lang="en-CA" sz="2000">
                          <a:solidFill>
                            <a:srgbClr val="1F1F1F"/>
                          </a:solidFill>
                          <a:effectLst/>
                        </a:rPr>
                        <a:t>) chosen for consistency.</a:t>
                      </a:r>
                      <a:endParaRPr lang="en-C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199868"/>
                  </a:ext>
                </a:extLst>
              </a:tr>
              <a:tr h="81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000" b="1">
                          <a:solidFill>
                            <a:srgbClr val="1F1F1F"/>
                          </a:solidFill>
                          <a:effectLst/>
                        </a:rPr>
                        <a:t>Key Point</a:t>
                      </a:r>
                      <a:endParaRPr lang="en-C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The schema is the foundation for all subsequent SPs, UDFs, and Views.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238" marR="85238" marT="56826" marB="5682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343091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DB3D2AA9-5430-FE06-8EAE-C2D466EF106D}"/>
              </a:ext>
            </a:extLst>
          </p:cNvPr>
          <p:cNvSpPr txBox="1"/>
          <p:nvPr/>
        </p:nvSpPr>
        <p:spPr>
          <a:xfrm>
            <a:off x="9863763" y="850263"/>
            <a:ext cx="7987584" cy="1143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4800" b="1">
                <a:latin typeface="Calibri"/>
                <a:ea typeface="Calibri"/>
                <a:cs typeface="Calibri"/>
              </a:rPr>
              <a:t>User Roles and Security Model</a:t>
            </a:r>
            <a:endParaRPr lang="en-US" sz="4800" b="1">
              <a:solidFill>
                <a:srgbClr val="000000"/>
              </a:solidFill>
              <a:latin typeface="Calibri"/>
              <a:ea typeface="Calibri"/>
              <a:cs typeface="Calibri"/>
              <a:sym typeface="League Spartan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F57C275-7E10-611B-3466-3450927736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58481"/>
              </p:ext>
            </p:extLst>
          </p:nvPr>
        </p:nvGraphicFramePr>
        <p:xfrm>
          <a:off x="9861114" y="2178979"/>
          <a:ext cx="7987284" cy="5244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" name="Graphic 80" descr="Unlock with solid fill">
            <a:extLst>
              <a:ext uri="{FF2B5EF4-FFF2-40B4-BE49-F238E27FC236}">
                <a16:creationId xmlns:a16="http://schemas.microsoft.com/office/drawing/2014/main" id="{25DF32E7-53E0-6619-B542-6DDE119CF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99717" y="505738"/>
            <a:ext cx="914400" cy="914400"/>
          </a:xfrm>
          <a:prstGeom prst="rect">
            <a:avLst/>
          </a:prstGeom>
        </p:spPr>
      </p:pic>
      <p:pic>
        <p:nvPicPr>
          <p:cNvPr id="82" name="Graphic 81" descr="Database with solid fill">
            <a:extLst>
              <a:ext uri="{FF2B5EF4-FFF2-40B4-BE49-F238E27FC236}">
                <a16:creationId xmlns:a16="http://schemas.microsoft.com/office/drawing/2014/main" id="{E4223BE5-6570-357E-BA52-E0B69968D0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43009" y="5419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3B06-7618-88EB-C94A-A259D0DB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64" y="579073"/>
            <a:ext cx="12445290" cy="931154"/>
          </a:xfrm>
          <a:solidFill>
            <a:schemeClr val="bg1"/>
          </a:solidFill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latin typeface="Calibri"/>
                <a:ea typeface="+mj-lt"/>
                <a:cs typeface="+mj-lt"/>
              </a:rPr>
              <a:t>Views and User-Defined Functions (UDFs)</a:t>
            </a:r>
            <a:endParaRPr lang="en-US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A691D-A97A-EF0C-A62A-DC47C9F1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4B7-6F5A-4D3D-A446-82278160CD63}" type="datetime1"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FBDE8-DA16-DD00-AC17-57C4174F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8C3577-13E6-DDD0-AE52-9D53463A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343C212-DC3C-F809-885F-E763D01F9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26199"/>
              </p:ext>
            </p:extLst>
          </p:nvPr>
        </p:nvGraphicFramePr>
        <p:xfrm>
          <a:off x="814191" y="1988506"/>
          <a:ext cx="16911546" cy="6153938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5637182">
                  <a:extLst>
                    <a:ext uri="{9D8B030D-6E8A-4147-A177-3AD203B41FA5}">
                      <a16:colId xmlns:a16="http://schemas.microsoft.com/office/drawing/2014/main" val="2621356528"/>
                    </a:ext>
                  </a:extLst>
                </a:gridCol>
                <a:gridCol w="5637182">
                  <a:extLst>
                    <a:ext uri="{9D8B030D-6E8A-4147-A177-3AD203B41FA5}">
                      <a16:colId xmlns:a16="http://schemas.microsoft.com/office/drawing/2014/main" val="1167309828"/>
                    </a:ext>
                  </a:extLst>
                </a:gridCol>
                <a:gridCol w="5637182">
                  <a:extLst>
                    <a:ext uri="{9D8B030D-6E8A-4147-A177-3AD203B41FA5}">
                      <a16:colId xmlns:a16="http://schemas.microsoft.com/office/drawing/2014/main" val="2254114577"/>
                    </a:ext>
                  </a:extLst>
                </a:gridCol>
              </a:tblGrid>
              <a:tr h="843005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800" u="none" strike="noStrike" cap="none" noProof="0">
                          <a:solidFill>
                            <a:srgbClr val="000000"/>
                          </a:solidFill>
                        </a:rPr>
                        <a:t>Views (Data Filtering&amp; Abstraction)</a:t>
                      </a:r>
                      <a:endParaRPr lang="en-US" sz="2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2800" u="none" strike="noStrike" cap="none" noProof="0">
                          <a:solidFill>
                            <a:srgbClr val="000000"/>
                          </a:solidFill>
                        </a:rPr>
                        <a:t>User-defined function (UDF)</a:t>
                      </a:r>
                      <a:endParaRPr lang="en-US" sz="2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buNone/>
                        <a:tabLst/>
                        <a:defRPr/>
                      </a:pPr>
                      <a:r>
                        <a:rPr lang="en-US" sz="2800" u="none" strike="noStrike" cap="none" noProof="0">
                          <a:solidFill>
                            <a:srgbClr val="000000"/>
                          </a:solidFill>
                        </a:rPr>
                        <a:t>Key Benefits</a:t>
                      </a:r>
                      <a:endParaRPr lang="en-US" sz="2800" u="none" strike="noStrike" cap="all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708487"/>
                  </a:ext>
                </a:extLst>
              </a:tr>
              <a:tr h="5310933"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Created reusable virtual tables to simplify complex queries.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 err="1">
                          <a:solidFill>
                            <a:srgbClr val="000000"/>
                          </a:solidFill>
                        </a:rPr>
                        <a:t>View_BookList</a:t>
                      </a: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: Returns </a:t>
                      </a:r>
                      <a:r>
                        <a:rPr lang="en-US" sz="2400" b="1" u="none" strike="noStrike" noProof="0" err="1">
                          <a:solidFill>
                            <a:srgbClr val="000000"/>
                          </a:solidFill>
                        </a:rPr>
                        <a:t>bookID</a:t>
                      </a: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, title, price, and stock levels.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 err="1">
                          <a:solidFill>
                            <a:srgbClr val="000000"/>
                          </a:solidFill>
                        </a:rPr>
                        <a:t>View_BooksWithCategory</a:t>
                      </a: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: Joins Books and Categories to support category-based reporting.</a:t>
                      </a:r>
                      <a:endParaRPr lang="en-US" sz="2400" b="1" u="none" strike="noStrike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Implements business rules </a:t>
                      </a:r>
                      <a:r>
                        <a:rPr lang="en-US" sz="2400" b="1" u="none" strike="noStrike" noProof="0" err="1">
                          <a:solidFill>
                            <a:srgbClr val="000000"/>
                          </a:solidFill>
                        </a:rPr>
                        <a:t>formembership</a:t>
                      </a: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-based pricing.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 err="1">
                          <a:solidFill>
                            <a:srgbClr val="000000"/>
                          </a:solidFill>
                        </a:rPr>
                        <a:t>udf_membership_discount</a:t>
                      </a: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: Calculates final price using tiered discounts: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Gold: 15%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Silver: 10%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Standard: 0%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Used to standardize discount calculations across the system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Category-based reporting.</a:t>
                      </a:r>
                      <a:endParaRPr lang="en-US" sz="2400" b="1" u="none" strike="noStrike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Centralizes business logic.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Reduces repetitive code.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400" b="1" u="none" strike="noStrike" noProof="0">
                          <a:solidFill>
                            <a:srgbClr val="000000"/>
                          </a:solidFill>
                        </a:rPr>
                        <a:t>Enhances readability, maintenance, and role-based security.</a:t>
                      </a:r>
                      <a:endParaRPr lang="en-US" sz="2400" b="1" u="none" strike="noStrike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0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9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46647" y="824898"/>
            <a:ext cx="16360787" cy="1165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CA" sz="4800" b="1"/>
              <a:t>Data Filtering and Calculation</a:t>
            </a:r>
            <a:endParaRPr lang="en-US" sz="4800" b="1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0" name="TextBox 20"/>
          <p:cNvSpPr txBox="1"/>
          <p:nvPr/>
        </p:nvSpPr>
        <p:spPr>
          <a:xfrm rot="16200000">
            <a:off x="10852554" y="29899"/>
            <a:ext cx="721442" cy="60721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F7698-A565-3974-ECB9-A0A3234F7442}"/>
              </a:ext>
            </a:extLst>
          </p:cNvPr>
          <p:cNvSpPr txBox="1"/>
          <p:nvPr/>
        </p:nvSpPr>
        <p:spPr>
          <a:xfrm>
            <a:off x="846647" y="209105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Views and User-Defined Functions (UDFs)</a:t>
            </a:r>
            <a:endParaRPr lang="en-CA" sz="2800" b="1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D1E17ED-F6A4-C42F-2E44-A5527E1E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330514"/>
              </p:ext>
            </p:extLst>
          </p:nvPr>
        </p:nvGraphicFramePr>
        <p:xfrm>
          <a:off x="847594" y="3012213"/>
          <a:ext cx="15544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3006586305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84468043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748938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700" dirty="0">
                          <a:solidFill>
                            <a:srgbClr val="000000"/>
                          </a:solidFill>
                          <a:effectLst/>
                        </a:rPr>
                        <a:t>View (Security/Simplification)</a:t>
                      </a:r>
                    </a:p>
                    <a:p>
                      <a:endParaRPr lang="en-CA">
                        <a:solidFill>
                          <a:srgbClr val="000000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700" dirty="0">
                          <a:solidFill>
                            <a:srgbClr val="000000"/>
                          </a:solidFill>
                          <a:effectLst/>
                        </a:rPr>
                        <a:t>UDF (Business Logic)</a:t>
                      </a:r>
                    </a:p>
                    <a:p>
                      <a:endParaRPr lang="en-CA">
                        <a:solidFill>
                          <a:srgbClr val="000000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700" dirty="0">
                          <a:solidFill>
                            <a:srgbClr val="000000"/>
                          </a:solidFill>
                          <a:effectLst/>
                        </a:rPr>
                        <a:t>Visuals</a:t>
                      </a:r>
                    </a:p>
                    <a:p>
                      <a:endParaRPr lang="en-CA">
                        <a:solidFill>
                          <a:srgbClr val="000000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Available books by category. Purpose : Simplify complex joins for users and limit the columns a user can see (security).</a:t>
                      </a:r>
                    </a:p>
                  </a:txBody>
                  <a:tcPr marL="114224" marR="114224" marT="76150" marB="7615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Example: Calculate discount based on membership. Purpose : Returns a single scalar value. Used to apply different discount rates based on the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</a:rPr>
                        <a:t>Customers.membership_level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 ('Standard', 'Silver', 'Gold').</a:t>
                      </a:r>
                    </a:p>
                    <a:p>
                      <a:endParaRPr lang="en-CA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Show a snippet of the UDF's IF/CASE logic and a screenshot of the View's output </a:t>
                      </a:r>
                    </a:p>
                    <a:p>
                      <a:endParaRPr lang="en-CA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673834"/>
                  </a:ext>
                </a:extLst>
              </a:tr>
            </a:tbl>
          </a:graphicData>
        </a:graphic>
      </p:graphicFrame>
      <p:pic>
        <p:nvPicPr>
          <p:cNvPr id="2" name="Graphic 1" descr="Filter with solid fill">
            <a:extLst>
              <a:ext uri="{FF2B5EF4-FFF2-40B4-BE49-F238E27FC236}">
                <a16:creationId xmlns:a16="http://schemas.microsoft.com/office/drawing/2014/main" id="{97186D86-DE55-18F9-73C5-D7BDF23FB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2334" y="959807"/>
            <a:ext cx="1368468" cy="1384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569D-0AEE-0D8E-6B74-2F8EB609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B06FB18-4591-8F38-B8BC-66F6F819E0D4}"/>
              </a:ext>
            </a:extLst>
          </p:cNvPr>
          <p:cNvSpPr txBox="1"/>
          <p:nvPr/>
        </p:nvSpPr>
        <p:spPr>
          <a:xfrm>
            <a:off x="626067" y="5334"/>
            <a:ext cx="8768453" cy="1165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CA" sz="4800" b="1"/>
              <a:t>Events</a:t>
            </a:r>
            <a:endParaRPr lang="en-US" sz="4800" b="1">
              <a:solidFill>
                <a:srgbClr val="000000"/>
              </a:solidFill>
              <a:latin typeface="Calibri"/>
              <a:ea typeface="League Spartan"/>
              <a:cs typeface="League Spart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3171D-0AB2-70B4-1F91-FE89EC34CD1F}"/>
              </a:ext>
            </a:extLst>
          </p:cNvPr>
          <p:cNvSpPr txBox="1"/>
          <p:nvPr/>
        </p:nvSpPr>
        <p:spPr>
          <a:xfrm>
            <a:off x="630557" y="1369220"/>
            <a:ext cx="48394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CA" sz="2800" b="1"/>
              <a:t>Database Automation: Events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061263-DF15-EB74-9992-BE3BA9999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94607"/>
              </p:ext>
            </p:extLst>
          </p:nvPr>
        </p:nvGraphicFramePr>
        <p:xfrm>
          <a:off x="626301" y="2129424"/>
          <a:ext cx="16776678" cy="701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109">
                  <a:extLst>
                    <a:ext uri="{9D8B030D-6E8A-4147-A177-3AD203B41FA5}">
                      <a16:colId xmlns:a16="http://schemas.microsoft.com/office/drawing/2014/main" val="3382009761"/>
                    </a:ext>
                  </a:extLst>
                </a:gridCol>
                <a:gridCol w="4001534">
                  <a:extLst>
                    <a:ext uri="{9D8B030D-6E8A-4147-A177-3AD203B41FA5}">
                      <a16:colId xmlns:a16="http://schemas.microsoft.com/office/drawing/2014/main" val="3901228493"/>
                    </a:ext>
                  </a:extLst>
                </a:gridCol>
                <a:gridCol w="6442399">
                  <a:extLst>
                    <a:ext uri="{9D8B030D-6E8A-4147-A177-3AD203B41FA5}">
                      <a16:colId xmlns:a16="http://schemas.microsoft.com/office/drawing/2014/main" val="1403134627"/>
                    </a:ext>
                  </a:extLst>
                </a:gridCol>
                <a:gridCol w="3649636">
                  <a:extLst>
                    <a:ext uri="{9D8B030D-6E8A-4147-A177-3AD203B41FA5}">
                      <a16:colId xmlns:a16="http://schemas.microsoft.com/office/drawing/2014/main" val="3219590959"/>
                    </a:ext>
                  </a:extLst>
                </a:gridCol>
              </a:tblGrid>
              <a:tr h="524336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Events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Event Logic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Key Point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139793"/>
                  </a:ext>
                </a:extLst>
              </a:tr>
              <a:tr h="2279723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CA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Auto-Remove Unpaid Orders</a:t>
                      </a:r>
                      <a:endParaRPr 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To maintain data cleanliness and prevent system clutter from abandoned carts or incomplete transactions.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Event: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Auto-remove unpaid orders after 48 hours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. </a:t>
                      </a:r>
                      <a:endParaRPr lang="en-US" sz="2400" b="0">
                        <a:latin typeface="Calibri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Action: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Runs periodically (e.g., daily). Condition: Checks the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Orders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table for records where </a:t>
                      </a:r>
                      <a:r>
                        <a:rPr lang="en-US" sz="2400" b="0" i="0" u="none" strike="noStrike" noProof="0" err="1">
                          <a:solidFill>
                            <a:schemeClr val="dk1"/>
                          </a:solidFill>
                          <a:latin typeface="Calibri"/>
                        </a:rPr>
                        <a:t>order_status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 = 'Unpaid'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AND </a:t>
                      </a:r>
                      <a:r>
                        <a:rPr lang="en-US" sz="2400" b="0" i="0" u="none" strike="noStrike" noProof="0" err="1">
                          <a:solidFill>
                            <a:schemeClr val="dk1"/>
                          </a:solidFill>
                          <a:latin typeface="Calibri"/>
                        </a:rPr>
                        <a:t>order_date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is older than 48 hours. </a:t>
                      </a:r>
                      <a:endParaRPr lang="en-US" sz="2400" b="0">
                        <a:latin typeface="Calibri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Result: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Deletes matching records.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Ensures that resources reserved for abandoned orders are freed up, and the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Unpaid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status data is purged.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52381"/>
                  </a:ext>
                </a:extLst>
              </a:tr>
              <a:tr h="2279723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CA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Archive Completed Orders</a:t>
                      </a:r>
                      <a:endParaRPr lang="en-US" sz="24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To maintain data cleanliness and prevent system clutter from abandoned carts or incomplete transactions.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Event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: Archive orders that have been completed. </a:t>
                      </a: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Action: 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Runs every day. Condition: Checks the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Orders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table for records where </a:t>
                      </a:r>
                      <a:r>
                        <a:rPr lang="en-US" sz="2400" b="0" i="0" u="none" strike="noStrike" noProof="0" err="1">
                          <a:solidFill>
                            <a:schemeClr val="dk1"/>
                          </a:solidFill>
                          <a:latin typeface="Calibri"/>
                        </a:rPr>
                        <a:t>order_status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 = 'Completed'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. </a:t>
                      </a:r>
                      <a:endParaRPr lang="en-US" sz="2400" b="0">
                        <a:latin typeface="Calibri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Result: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Moves matching records from Orders to </a:t>
                      </a:r>
                      <a:r>
                        <a:rPr lang="en-US" sz="24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OrdersArchive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Reorganizes the data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34071"/>
                  </a:ext>
                </a:extLst>
              </a:tr>
              <a:tr h="1914967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CA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Inventory Alert</a:t>
                      </a:r>
                      <a:endParaRPr lang="en-US" sz="2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To maintain data cleanliness and prevent system clutter from abandoned carts or incomplete transactions.</a:t>
                      </a: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Event: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Alerts database user when stock is low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. </a:t>
                      </a: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Action: 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Runs every day. Condition: Checks the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Books 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table for records where quantity &lt; </a:t>
                      </a:r>
                      <a:r>
                        <a:rPr lang="en-US" sz="24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15 units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. </a:t>
                      </a: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Result: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Alerts the database user 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Ensures that the store is aware of items that are in low supply so they can prevent stock-outs</a:t>
                      </a:r>
                      <a:endParaRPr lang="en-US" sz="2400" b="0">
                        <a:latin typeface="Calibri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60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811060" y="489037"/>
            <a:ext cx="8953500" cy="1165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CA" sz="4800" b="1"/>
              <a:t>Stored Procedures (SPs)</a:t>
            </a:r>
            <a:endParaRPr lang="en-US" sz="4800" b="1">
              <a:solidFill>
                <a:srgbClr val="000000"/>
              </a:solidFill>
              <a:latin typeface="League Spartan"/>
              <a:ea typeface="League Spartan"/>
              <a:cs typeface="League Spart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BB70C2-0428-F471-F331-24E9C3CBE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006220"/>
              </p:ext>
            </p:extLst>
          </p:nvPr>
        </p:nvGraphicFramePr>
        <p:xfrm>
          <a:off x="814191" y="3930040"/>
          <a:ext cx="16776676" cy="5090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577">
                  <a:extLst>
                    <a:ext uri="{9D8B030D-6E8A-4147-A177-3AD203B41FA5}">
                      <a16:colId xmlns:a16="http://schemas.microsoft.com/office/drawing/2014/main" val="3382009761"/>
                    </a:ext>
                  </a:extLst>
                </a:gridCol>
                <a:gridCol w="3680065">
                  <a:extLst>
                    <a:ext uri="{9D8B030D-6E8A-4147-A177-3AD203B41FA5}">
                      <a16:colId xmlns:a16="http://schemas.microsoft.com/office/drawing/2014/main" val="3901228493"/>
                    </a:ext>
                  </a:extLst>
                </a:gridCol>
                <a:gridCol w="6442398">
                  <a:extLst>
                    <a:ext uri="{9D8B030D-6E8A-4147-A177-3AD203B41FA5}">
                      <a16:colId xmlns:a16="http://schemas.microsoft.com/office/drawing/2014/main" val="1403134627"/>
                    </a:ext>
                  </a:extLst>
                </a:gridCol>
                <a:gridCol w="3649636">
                  <a:extLst>
                    <a:ext uri="{9D8B030D-6E8A-4147-A177-3AD203B41FA5}">
                      <a16:colId xmlns:a16="http://schemas.microsoft.com/office/drawing/2014/main" val="3219590959"/>
                    </a:ext>
                  </a:extLst>
                </a:gridCol>
              </a:tblGrid>
              <a:tr h="524336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Stored Procedure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Logic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Key Benefits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139793"/>
                  </a:ext>
                </a:extLst>
              </a:tr>
              <a:tr h="2279723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CA" sz="28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Place Order</a:t>
                      </a:r>
                      <a:endParaRPr lang="en-US" sz="28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Automates the process of creating a new order for a customer.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 Validates stock availability.</a:t>
                      </a:r>
                      <a:endParaRPr lang="en-US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Inserts order header and line items.</a:t>
                      </a:r>
                      <a:endParaRPr lang="en-US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Updates inventory and calculates total amount.</a:t>
                      </a:r>
                      <a:endParaRPr lang="en-US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Raises error if stock is insufficient.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Ensures accurate order processing</a:t>
                      </a:r>
                      <a:endParaRPr lang="en-US" sz="240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prevents overselling</a:t>
                      </a:r>
                      <a:endParaRPr lang="en-US" sz="240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maintains data integrity.</a:t>
                      </a:r>
                      <a:endParaRPr lang="en-US" sz="2400">
                        <a:latin typeface="Calibri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52381"/>
                  </a:ext>
                </a:extLst>
              </a:tr>
              <a:tr h="2279723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CA" sz="28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Update Inventory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Manages stock adjustments for books.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Retrieves current stock.</a:t>
                      </a:r>
                      <a:endParaRPr lang="en-US" sz="240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Validates that update will not result in negative stock.</a:t>
                      </a:r>
                      <a:endParaRPr lang="en-US" sz="240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Updates </a:t>
                      </a:r>
                      <a:r>
                        <a:rPr lang="en-US" sz="24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stock_quantity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 accordingly.</a:t>
                      </a:r>
                      <a:endParaRPr lang="en-US" sz="240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Raises error for invalid operations.</a:t>
                      </a:r>
                      <a:endParaRPr lang="en-US" sz="2400">
                        <a:latin typeface="Calibri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Maintains correct inventory levels</a:t>
                      </a:r>
                      <a:endParaRPr lang="en-US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prevents negative stock</a:t>
                      </a:r>
                      <a:endParaRPr lang="en-US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</a:rPr>
                        <a:t>supports controlled adjustments.</a:t>
                      </a:r>
                      <a:endParaRPr lang="en-US"/>
                    </a:p>
                    <a:p>
                      <a:pPr lvl="0">
                        <a:lnSpc>
                          <a:spcPct val="100000"/>
                        </a:lnSpc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34071"/>
                  </a:ext>
                </a:extLst>
              </a:tr>
            </a:tbl>
          </a:graphicData>
        </a:graphic>
      </p:graphicFrame>
      <p:sp>
        <p:nvSpPr>
          <p:cNvPr id="4" name="TextBox 39">
            <a:extLst>
              <a:ext uri="{FF2B5EF4-FFF2-40B4-BE49-F238E27FC236}">
                <a16:creationId xmlns:a16="http://schemas.microsoft.com/office/drawing/2014/main" id="{F7B56329-46CE-C23C-9563-2671AA063E5C}"/>
              </a:ext>
            </a:extLst>
          </p:cNvPr>
          <p:cNvSpPr txBox="1"/>
          <p:nvPr/>
        </p:nvSpPr>
        <p:spPr>
          <a:xfrm>
            <a:off x="811059" y="2336625"/>
            <a:ext cx="16312541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CA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 stored procedure is a </a:t>
            </a:r>
            <a:r>
              <a:rPr lang="en-CA" sz="2800" b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precompiled</a:t>
            </a:r>
            <a:r>
              <a:rPr lang="en-CA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set of SQL statements that performs a specific task, allowing </a:t>
            </a:r>
            <a:r>
              <a:rPr lang="en-CA" sz="2800" b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automation</a:t>
            </a:r>
            <a:r>
              <a:rPr lang="en-CA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and secure execution of business logic within the database.</a:t>
            </a:r>
            <a:endParaRPr lang="en-US" sz="2800"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BF47-4FDB-3617-1543-A7662EE8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9065711-904D-DBA1-DFFD-AC2FEDF3DFF2}"/>
              </a:ext>
            </a:extLst>
          </p:cNvPr>
          <p:cNvSpPr txBox="1"/>
          <p:nvPr/>
        </p:nvSpPr>
        <p:spPr>
          <a:xfrm>
            <a:off x="766174" y="307210"/>
            <a:ext cx="11288273" cy="1165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CA" sz="4800" b="1"/>
              <a:t>Integration Challenges and Solutions</a:t>
            </a:r>
            <a:endParaRPr lang="en-US" sz="4800" b="1">
              <a:solidFill>
                <a:srgbClr val="000000"/>
              </a:solidFill>
              <a:latin typeface="Calibri"/>
              <a:ea typeface="League Spartan"/>
              <a:cs typeface="League Spart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CB19EE-C322-BC9A-698E-CCFDABBED894}"/>
              </a:ext>
            </a:extLst>
          </p:cNvPr>
          <p:cNvSpPr txBox="1"/>
          <p:nvPr/>
        </p:nvSpPr>
        <p:spPr>
          <a:xfrm>
            <a:off x="759657" y="1676462"/>
            <a:ext cx="83446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/>
              <a:t>Integration and Testing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4DB575-46F9-000A-3612-41AC2AF03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152869"/>
              </p:ext>
            </p:extLst>
          </p:nvPr>
        </p:nvGraphicFramePr>
        <p:xfrm>
          <a:off x="762000" y="2570445"/>
          <a:ext cx="12035434" cy="572476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935787">
                  <a:extLst>
                    <a:ext uri="{9D8B030D-6E8A-4147-A177-3AD203B41FA5}">
                      <a16:colId xmlns:a16="http://schemas.microsoft.com/office/drawing/2014/main" val="2766371371"/>
                    </a:ext>
                  </a:extLst>
                </a:gridCol>
                <a:gridCol w="9099647">
                  <a:extLst>
                    <a:ext uri="{9D8B030D-6E8A-4147-A177-3AD203B41FA5}">
                      <a16:colId xmlns:a16="http://schemas.microsoft.com/office/drawing/2014/main" val="1113115549"/>
                    </a:ext>
                  </a:extLst>
                </a:gridCol>
              </a:tblGrid>
              <a:tr h="13856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800" b="1">
                          <a:solidFill>
                            <a:srgbClr val="1F1F1F"/>
                          </a:solidFill>
                          <a:effectLst/>
                        </a:rPr>
                        <a:t>Challenge 1 (Integration)</a:t>
                      </a:r>
                    </a:p>
                  </a:txBody>
                  <a:tcPr marL="88473" marR="88473" marT="58982" marB="5898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Ensuring the 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Place order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SP correctly updated inventory (</a:t>
                      </a:r>
                      <a:r>
                        <a:rPr lang="en-US" sz="2400" err="1">
                          <a:solidFill>
                            <a:srgbClr val="444746"/>
                          </a:solidFill>
                          <a:effectLst/>
                        </a:rPr>
                        <a:t>Books.stock_quantity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) and logged a transaction (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Orders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2400" err="1">
                          <a:solidFill>
                            <a:srgbClr val="444746"/>
                          </a:solidFill>
                          <a:effectLst/>
                        </a:rPr>
                        <a:t>OrderDetails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) in one atomic operation.</a:t>
                      </a:r>
                    </a:p>
                  </a:txBody>
                  <a:tcPr marL="88473" marR="88473" marT="58982" marB="5898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56562"/>
                  </a:ext>
                </a:extLst>
              </a:tr>
              <a:tr h="11273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800" b="1">
                          <a:solidFill>
                            <a:srgbClr val="1F1F1F"/>
                          </a:solidFill>
                          <a:effectLst/>
                        </a:rPr>
                        <a:t>Solution</a:t>
                      </a:r>
                    </a:p>
                  </a:txBody>
                  <a:tcPr marL="88473" marR="88473" marT="58982" marB="5898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Used transaction control (BEGIN/COMMIT/ROLLBACK) within the SP to guarantee all DML operations succeed or fail together.</a:t>
                      </a:r>
                    </a:p>
                  </a:txBody>
                  <a:tcPr marL="88473" marR="88473" marT="58982" marB="5898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04034"/>
                  </a:ext>
                </a:extLst>
              </a:tr>
              <a:tr h="9629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800" b="1">
                          <a:solidFill>
                            <a:srgbClr val="1F1F1F"/>
                          </a:solidFill>
                          <a:effectLst/>
                        </a:rPr>
                        <a:t>Challenge 2 (Security)</a:t>
                      </a:r>
                    </a:p>
                  </a:txBody>
                  <a:tcPr marL="88473" marR="88473" marT="58982" marB="5898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Restricting the Customer role to only the required columns.</a:t>
                      </a:r>
                    </a:p>
                  </a:txBody>
                  <a:tcPr marL="88473" marR="88473" marT="58982" marB="5898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985922"/>
                  </a:ext>
                </a:extLst>
              </a:tr>
              <a:tr h="1033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800" b="1">
                          <a:solidFill>
                            <a:srgbClr val="1F1F1F"/>
                          </a:solidFill>
                          <a:effectLst/>
                        </a:rPr>
                        <a:t>Solution</a:t>
                      </a:r>
                    </a:p>
                  </a:txBody>
                  <a:tcPr marL="88473" marR="88473" marT="58982" marB="5898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Used column-level permissions: 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GRANT SELECT (column1, column2...) ON </a:t>
                      </a:r>
                      <a:r>
                        <a:rPr lang="en-US" sz="2400" err="1">
                          <a:solidFill>
                            <a:srgbClr val="444746"/>
                          </a:solidFill>
                          <a:effectLst/>
                        </a:rPr>
                        <a:t>TableName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...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to enforce minimal access.</a:t>
                      </a:r>
                    </a:p>
                  </a:txBody>
                  <a:tcPr marL="88473" marR="88473" marT="58982" marB="5898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1909"/>
                  </a:ext>
                </a:extLst>
              </a:tr>
              <a:tr h="12069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2800" b="1">
                          <a:solidFill>
                            <a:srgbClr val="1F1F1F"/>
                          </a:solidFill>
                          <a:effectLst/>
                        </a:rPr>
                        <a:t>Key Success</a:t>
                      </a:r>
                    </a:p>
                  </a:txBody>
                  <a:tcPr marL="88473" marR="88473" marT="58982" marB="5898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All components (UDF, SP, View) successfully executed using the sample data, proving cross-functional integrity.</a:t>
                      </a:r>
                    </a:p>
                  </a:txBody>
                  <a:tcPr marL="88473" marR="88473" marT="58982" marB="5898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356265"/>
                  </a:ext>
                </a:extLst>
              </a:tr>
            </a:tbl>
          </a:graphicData>
        </a:graphic>
      </p:graphicFrame>
      <p:pic>
        <p:nvPicPr>
          <p:cNvPr id="4" name="Graphic 3" descr="Playbook outline">
            <a:extLst>
              <a:ext uri="{FF2B5EF4-FFF2-40B4-BE49-F238E27FC236}">
                <a16:creationId xmlns:a16="http://schemas.microsoft.com/office/drawing/2014/main" id="{54C4D296-F496-63C6-175A-06EF5649E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95829" y="2954991"/>
            <a:ext cx="4377017" cy="43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62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842B7-C3B3-750A-0FD0-16693D54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8D44057-8209-7600-2016-7C077CE1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779" y="928961"/>
            <a:ext cx="15087600" cy="1330630"/>
          </a:xfrm>
        </p:spPr>
        <p:txBody>
          <a:bodyPr/>
          <a:lstStyle/>
          <a:p>
            <a:r>
              <a:rPr lang="en-GB" b="1">
                <a:solidFill>
                  <a:schemeClr val="tx1"/>
                </a:solidFill>
                <a:latin typeface="Calibri"/>
                <a:ea typeface="Calibri Light"/>
                <a:cs typeface="Calibri Light"/>
              </a:rPr>
              <a:t>Conclusion</a:t>
            </a:r>
            <a:endParaRPr lang="en-GB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F50C34-9E12-AE38-6C7A-92FDD673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646" y="2769078"/>
            <a:ext cx="5339846" cy="110442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GB" sz="4000" b="1">
                <a:solidFill>
                  <a:schemeClr val="tx1"/>
                </a:solidFill>
                <a:ea typeface="Calibri"/>
                <a:cs typeface="Calibri"/>
              </a:rPr>
              <a:t>Achieved goals</a:t>
            </a:r>
            <a:endParaRPr lang="en-GB" sz="4000" b="1">
              <a:solidFill>
                <a:schemeClr val="tx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38D2D06-3A55-F23E-7329-08F91F809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2646" y="3873501"/>
            <a:ext cx="5339846" cy="506730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0" tIns="45720" rIns="0" bIns="45720" rtlCol="0" anchor="t">
            <a:normAutofit/>
          </a:bodyPr>
          <a:lstStyle/>
          <a:p>
            <a:r>
              <a:rPr lang="en-GB" sz="2800">
                <a:ea typeface="+mn-lt"/>
                <a:cs typeface="+mn-lt"/>
              </a:rPr>
              <a:t>✔ Designed a normalized, secure Online Bookstore database.</a:t>
            </a:r>
            <a:br>
              <a:rPr lang="en-GB" sz="2800">
                <a:ea typeface="+mn-lt"/>
                <a:cs typeface="+mn-lt"/>
              </a:rPr>
            </a:br>
            <a:endParaRPr lang="en-GB" sz="2800">
              <a:ea typeface="+mn-lt"/>
              <a:cs typeface="+mn-lt"/>
            </a:endParaRPr>
          </a:p>
          <a:p>
            <a:r>
              <a:rPr lang="en-GB" sz="2800">
                <a:ea typeface="+mn-lt"/>
                <a:cs typeface="+mn-lt"/>
              </a:rPr>
              <a:t> ✔ Implemented automation via </a:t>
            </a:r>
            <a:r>
              <a:rPr lang="en-GB" sz="2800" b="1">
                <a:ea typeface="+mn-lt"/>
                <a:cs typeface="+mn-lt"/>
              </a:rPr>
              <a:t>Stored Procedures</a:t>
            </a:r>
            <a:r>
              <a:rPr lang="en-GB" sz="2800">
                <a:ea typeface="+mn-lt"/>
                <a:cs typeface="+mn-lt"/>
              </a:rPr>
              <a:t>, </a:t>
            </a:r>
            <a:r>
              <a:rPr lang="en-GB" sz="2800" b="1">
                <a:ea typeface="+mn-lt"/>
                <a:cs typeface="+mn-lt"/>
              </a:rPr>
              <a:t>Events</a:t>
            </a:r>
            <a:r>
              <a:rPr lang="en-GB" sz="2800">
                <a:ea typeface="+mn-lt"/>
                <a:cs typeface="+mn-lt"/>
              </a:rPr>
              <a:t>, </a:t>
            </a:r>
            <a:r>
              <a:rPr lang="en-GB" sz="2800" b="1">
                <a:ea typeface="+mn-lt"/>
                <a:cs typeface="+mn-lt"/>
              </a:rPr>
              <a:t>Views</a:t>
            </a:r>
            <a:r>
              <a:rPr lang="en-GB" sz="2800">
                <a:ea typeface="+mn-lt"/>
                <a:cs typeface="+mn-lt"/>
              </a:rPr>
              <a:t>, and </a:t>
            </a:r>
            <a:r>
              <a:rPr lang="en-GB" sz="2800" b="1">
                <a:ea typeface="+mn-lt"/>
                <a:cs typeface="+mn-lt"/>
              </a:rPr>
              <a:t>UDFs</a:t>
            </a:r>
            <a:r>
              <a:rPr lang="en-GB" sz="2800">
                <a:ea typeface="+mn-lt"/>
                <a:cs typeface="+mn-lt"/>
              </a:rPr>
              <a:t>.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 </a:t>
            </a:r>
            <a:endParaRPr lang="en-GB">
              <a:ea typeface="+mn-lt"/>
              <a:cs typeface="+mn-lt"/>
            </a:endParaRPr>
          </a:p>
          <a:p>
            <a:r>
              <a:rPr lang="en-GB" sz="2800">
                <a:ea typeface="+mn-lt"/>
                <a:cs typeface="+mn-lt"/>
              </a:rPr>
              <a:t>✔ Enforced </a:t>
            </a:r>
            <a:r>
              <a:rPr lang="en-GB" sz="2800" b="1">
                <a:ea typeface="+mn-lt"/>
                <a:cs typeface="+mn-lt"/>
              </a:rPr>
              <a:t>Role-Based Access Control</a:t>
            </a:r>
            <a:r>
              <a:rPr lang="en-GB" sz="2800">
                <a:ea typeface="+mn-lt"/>
                <a:cs typeface="+mn-lt"/>
              </a:rPr>
              <a:t> for Admin, Seller, and Customer.</a:t>
            </a:r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9CEB337-3C67-1002-C146-91BD6CC78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0360" y="2769078"/>
            <a:ext cx="5324188" cy="110442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GB" sz="4000" b="1">
                <a:solidFill>
                  <a:schemeClr val="tx1"/>
                </a:solidFill>
                <a:ea typeface="Calibri"/>
                <a:cs typeface="Calibri"/>
              </a:rPr>
              <a:t>Key outcomes</a:t>
            </a:r>
            <a:endParaRPr lang="en-GB" sz="4000" b="1">
              <a:solidFill>
                <a:schemeClr val="tx1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5694D10-6827-8866-CE00-2FE0CD92A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90360" y="3873501"/>
            <a:ext cx="5324188" cy="506730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0" tIns="45720" rIns="0" bIns="45720" rtlCol="0" anchor="t">
            <a:normAutofit/>
          </a:bodyPr>
          <a:lstStyle/>
          <a:p>
            <a:r>
              <a:rPr lang="en-GB" sz="2800">
                <a:ea typeface="+mn-lt"/>
                <a:cs typeface="+mn-lt"/>
              </a:rPr>
              <a:t>✔ Reliable order processing and inventory management.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 </a:t>
            </a:r>
          </a:p>
          <a:p>
            <a:r>
              <a:rPr lang="en-GB" sz="2800">
                <a:ea typeface="+mn-lt"/>
                <a:cs typeface="+mn-lt"/>
              </a:rPr>
              <a:t>✔ Improved data integrity and operational efficiency.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 </a:t>
            </a:r>
          </a:p>
          <a:p>
            <a:r>
              <a:rPr lang="en-GB" sz="2800">
                <a:ea typeface="+mn-lt"/>
                <a:cs typeface="+mn-lt"/>
              </a:rPr>
              <a:t>✔ Scalable design ready for integration.</a:t>
            </a: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9D5619B-C74B-8FD2-0BEB-D047432E2B43}"/>
              </a:ext>
            </a:extLst>
          </p:cNvPr>
          <p:cNvSpPr txBox="1">
            <a:spLocks/>
          </p:cNvSpPr>
          <p:nvPr/>
        </p:nvSpPr>
        <p:spPr>
          <a:xfrm>
            <a:off x="12469869" y="2764903"/>
            <a:ext cx="5073668" cy="1120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3556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81281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355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62562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43843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251241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4064051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876861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689671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502481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84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b="1">
                <a:solidFill>
                  <a:schemeClr val="tx1"/>
                </a:solidFill>
                <a:ea typeface="Calibri"/>
                <a:cs typeface="Calibri"/>
              </a:rPr>
              <a:t>Future Works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2DC1219B-EF0E-0BC0-831A-9C8E3DAB7E84}"/>
              </a:ext>
            </a:extLst>
          </p:cNvPr>
          <p:cNvSpPr txBox="1">
            <a:spLocks/>
          </p:cNvSpPr>
          <p:nvPr/>
        </p:nvSpPr>
        <p:spPr>
          <a:xfrm>
            <a:off x="12454212" y="3869326"/>
            <a:ext cx="5089326" cy="5067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>
                <a:ea typeface="+mn-lt"/>
                <a:cs typeface="+mn-lt"/>
              </a:rPr>
              <a:t>✔ </a:t>
            </a:r>
            <a:r>
              <a:rPr lang="en-GB" sz="2800">
                <a:latin typeface="Calibri"/>
                <a:ea typeface="+mn-lt"/>
                <a:cs typeface="Segoe UI"/>
              </a:rPr>
              <a:t>Add </a:t>
            </a:r>
            <a:r>
              <a:rPr lang="en-GB" sz="2800" b="1">
                <a:latin typeface="Calibri"/>
                <a:ea typeface="+mn-lt"/>
                <a:cs typeface="Segoe UI"/>
              </a:rPr>
              <a:t>tax calculation</a:t>
            </a:r>
            <a:r>
              <a:rPr lang="en-GB" sz="2800">
                <a:latin typeface="Calibri"/>
                <a:ea typeface="+mn-lt"/>
                <a:cs typeface="Segoe UI"/>
              </a:rPr>
              <a:t> and integrate regional tax rules in order processing.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 </a:t>
            </a:r>
          </a:p>
          <a:p>
            <a:r>
              <a:rPr lang="en-GB" sz="2800">
                <a:ea typeface="+mn-lt"/>
                <a:cs typeface="+mn-lt"/>
              </a:rPr>
              <a:t>✔ </a:t>
            </a:r>
            <a:r>
              <a:rPr lang="en-GB" sz="2800">
                <a:ea typeface="+mn-lt"/>
                <a:cs typeface="Segoe UI"/>
              </a:rPr>
              <a:t>Implement</a:t>
            </a:r>
            <a:r>
              <a:rPr lang="en-GB" sz="2800">
                <a:latin typeface="Calibri"/>
                <a:ea typeface="+mn-lt"/>
                <a:cs typeface="Segoe UI"/>
              </a:rPr>
              <a:t> </a:t>
            </a:r>
            <a:r>
              <a:rPr lang="en-GB" sz="2800" b="1">
                <a:latin typeface="Calibri"/>
                <a:ea typeface="+mn-lt"/>
                <a:cs typeface="Segoe UI"/>
              </a:rPr>
              <a:t>multi-item cart functionality</a:t>
            </a:r>
            <a:r>
              <a:rPr lang="en-GB" sz="2800">
                <a:latin typeface="Calibri"/>
                <a:ea typeface="+mn-lt"/>
                <a:cs typeface="Segoe UI"/>
              </a:rPr>
              <a:t> in </a:t>
            </a:r>
            <a:r>
              <a:rPr lang="en-GB" sz="2800" err="1">
                <a:latin typeface="Calibri"/>
                <a:ea typeface="+mn-lt"/>
                <a:cs typeface="+mn-lt"/>
              </a:rPr>
              <a:t>place_order</a:t>
            </a:r>
            <a:r>
              <a:rPr lang="en-GB" sz="2800">
                <a:latin typeface="Calibri"/>
                <a:ea typeface="+mn-lt"/>
                <a:cs typeface="Segoe UI"/>
              </a:rPr>
              <a:t>.</a:t>
            </a:r>
            <a:br>
              <a:rPr lang="en-GB" sz="2800">
                <a:ea typeface="+mn-lt"/>
                <a:cs typeface="+mn-lt"/>
              </a:rPr>
            </a:br>
            <a:r>
              <a:rPr lang="en-GB" sz="2800">
                <a:ea typeface="+mn-lt"/>
                <a:cs typeface="+mn-lt"/>
              </a:rPr>
              <a:t> </a:t>
            </a:r>
          </a:p>
          <a:p>
            <a:r>
              <a:rPr lang="en-GB" sz="2800">
                <a:ea typeface="+mn-lt"/>
                <a:cs typeface="+mn-lt"/>
              </a:rPr>
              <a:t>✔ </a:t>
            </a:r>
            <a:r>
              <a:rPr lang="en-GB" sz="2800">
                <a:latin typeface="Calibri"/>
                <a:ea typeface="+mn-lt"/>
                <a:cs typeface="Segoe UI"/>
              </a:rPr>
              <a:t>Build </a:t>
            </a:r>
            <a:r>
              <a:rPr lang="en-GB" sz="2800" b="1">
                <a:latin typeface="Calibri"/>
                <a:ea typeface="+mn-lt"/>
                <a:cs typeface="Segoe UI"/>
              </a:rPr>
              <a:t>real-time stock alerts dashboard</a:t>
            </a:r>
            <a:r>
              <a:rPr lang="en-GB" sz="2800">
                <a:latin typeface="Calibri"/>
                <a:ea typeface="+mn-lt"/>
                <a:cs typeface="Segoe UI"/>
              </a:rPr>
              <a:t> for sellers/admin.</a:t>
            </a:r>
            <a:endParaRPr lang="en-GB" sz="2800">
              <a:latin typeface="Calibri"/>
              <a:cs typeface="Segoe UI"/>
            </a:endParaRPr>
          </a:p>
          <a:p>
            <a:r>
              <a:rPr lang="en-GB" sz="2800">
                <a:latin typeface="Calibri"/>
                <a:ea typeface="Calibri"/>
                <a:cs typeface="Calibri"/>
              </a:rPr>
              <a:t>✔</a:t>
            </a:r>
            <a:r>
              <a:rPr lang="en-GB" sz="2800">
                <a:latin typeface="Calibri"/>
                <a:ea typeface="Calibri"/>
                <a:cs typeface="Segoe UI"/>
              </a:rPr>
              <a:t>Enable </a:t>
            </a:r>
            <a:r>
              <a:rPr lang="en-GB" sz="2800" b="1">
                <a:latin typeface="Calibri"/>
                <a:ea typeface="Calibri"/>
                <a:cs typeface="Segoe UI"/>
              </a:rPr>
              <a:t>payment gateway integration</a:t>
            </a:r>
            <a:r>
              <a:rPr lang="en-GB" sz="2800">
                <a:latin typeface="Calibri"/>
                <a:ea typeface="Calibri"/>
                <a:cs typeface="Segoe UI"/>
              </a:rPr>
              <a:t> for live transactions.</a:t>
            </a: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1100">
              <a:latin typeface="Segoe UI"/>
              <a:ea typeface="Calibri"/>
              <a:cs typeface="Segoe UI"/>
            </a:endParaRPr>
          </a:p>
          <a:p>
            <a:endParaRPr lang="en-GB" sz="2800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70167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E59833B24C3244BF014B25A4D73397" ma:contentTypeVersion="3" ma:contentTypeDescription="Create a new document." ma:contentTypeScope="" ma:versionID="40683d476966e6f71c445788765606f0">
  <xsd:schema xmlns:xsd="http://www.w3.org/2001/XMLSchema" xmlns:xs="http://www.w3.org/2001/XMLSchema" xmlns:p="http://schemas.microsoft.com/office/2006/metadata/properties" xmlns:ns2="7b4937b7-59a7-4a31-9365-d361c075e3a6" targetNamespace="http://schemas.microsoft.com/office/2006/metadata/properties" ma:root="true" ma:fieldsID="51cd7c3da499c5c21b033a70882da228" ns2:_="">
    <xsd:import namespace="7b4937b7-59a7-4a31-9365-d361c075e3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937b7-59a7-4a31-9365-d361c075e3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A4352E-08E2-41C3-A7C4-A847F3AB60F5}"/>
</file>

<file path=customXml/itemProps2.xml><?xml version="1.0" encoding="utf-8"?>
<ds:datastoreItem xmlns:ds="http://schemas.openxmlformats.org/officeDocument/2006/customXml" ds:itemID="{E1E3EAFD-F959-40D3-9C9B-D27E12EA9F8E}">
  <ds:schemaRefs>
    <ds:schemaRef ds:uri="478f391c-2f25-46c3-988c-c82abcd960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2F5662-F1F5-40BC-8A81-0A5D35315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PowerPoint Presentation</vt:lpstr>
      <vt:lpstr>PowerPoint Presentation</vt:lpstr>
      <vt:lpstr>PowerPoint Presentation</vt:lpstr>
      <vt:lpstr>PowerPoint Presentation</vt:lpstr>
      <vt:lpstr>Views and User-Defined Functions (UDFs)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and Professional Technological Business Presentation</dc:title>
  <cp:revision>7</cp:revision>
  <dcterms:created xsi:type="dcterms:W3CDTF">2006-08-16T00:00:00Z</dcterms:created>
  <dcterms:modified xsi:type="dcterms:W3CDTF">2025-12-19T07:17:11Z</dcterms:modified>
  <dc:identifier>DAG65E2-IC4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0x010100D5E59833B24C3244BF014B25A4D73397</vt:lpwstr>
  </property>
</Properties>
</file>